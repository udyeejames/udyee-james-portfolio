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sldIdLst>
    <p:sldId id="256" r:id="rId2"/>
    <p:sldId id="257" r:id="rId3"/>
    <p:sldId id="258" r:id="rId4"/>
    <p:sldId id="277" r:id="rId5"/>
    <p:sldId id="259" r:id="rId6"/>
    <p:sldId id="276"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D78CA036-2E80-497D-B50D-D7535E4AA129}">
          <p14:sldIdLst>
            <p14:sldId id="256"/>
            <p14:sldId id="257"/>
            <p14:sldId id="258"/>
            <p14:sldId id="277"/>
            <p14:sldId id="259"/>
            <p14:sldId id="276"/>
            <p14:sldId id="260"/>
            <p14:sldId id="261"/>
            <p14:sldId id="262"/>
            <p14:sldId id="263"/>
            <p14:sldId id="264"/>
            <p14:sldId id="265"/>
            <p14:sldId id="266"/>
            <p14:sldId id="267"/>
            <p14:sldId id="268"/>
            <p14:sldId id="269"/>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44C00"/>
    <a:srgbClr val="FFE6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109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A883F-432D-C75F-FAC4-9995FF1ED2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24D8DC-C4FC-C463-C4CA-C5F549C14C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0C6558-342C-EEF8-A961-BDB07C7F6123}"/>
              </a:ext>
            </a:extLst>
          </p:cNvPr>
          <p:cNvSpPr>
            <a:spLocks noGrp="1"/>
          </p:cNvSpPr>
          <p:nvPr>
            <p:ph type="dt" sz="half" idx="10"/>
          </p:nvPr>
        </p:nvSpPr>
        <p:spPr/>
        <p:txBody>
          <a:bodyPr/>
          <a:lstStyle/>
          <a:p>
            <a:fld id="{1D59B54C-2D45-4929-A6CC-24C86DACCF2D}" type="datetimeFigureOut">
              <a:rPr lang="en-US" smtClean="0"/>
              <a:t>4/27/2026</a:t>
            </a:fld>
            <a:endParaRPr lang="en-US"/>
          </a:p>
        </p:txBody>
      </p:sp>
      <p:sp>
        <p:nvSpPr>
          <p:cNvPr id="5" name="Footer Placeholder 4">
            <a:extLst>
              <a:ext uri="{FF2B5EF4-FFF2-40B4-BE49-F238E27FC236}">
                <a16:creationId xmlns:a16="http://schemas.microsoft.com/office/drawing/2014/main" id="{F2351BE7-0C41-0633-9758-8E92DDAFAC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8085B5-DF89-0DDB-3FE2-E920DE1E3DE4}"/>
              </a:ext>
            </a:extLst>
          </p:cNvPr>
          <p:cNvSpPr>
            <a:spLocks noGrp="1"/>
          </p:cNvSpPr>
          <p:nvPr>
            <p:ph type="sldNum" sz="quarter" idx="12"/>
          </p:nvPr>
        </p:nvSpPr>
        <p:spPr/>
        <p:txBody>
          <a:bodyPr/>
          <a:lstStyle/>
          <a:p>
            <a:fld id="{0D3AA770-1623-4E62-A1B2-20C8F8C6FF96}" type="slidenum">
              <a:rPr lang="en-US" smtClean="0"/>
              <a:t>‹#›</a:t>
            </a:fld>
            <a:endParaRPr lang="en-US"/>
          </a:p>
        </p:txBody>
      </p:sp>
    </p:spTree>
    <p:extLst>
      <p:ext uri="{BB962C8B-B14F-4D97-AF65-F5344CB8AC3E}">
        <p14:creationId xmlns:p14="http://schemas.microsoft.com/office/powerpoint/2010/main" val="1061135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943AD-5C0B-25AB-837A-664D7E3FF7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DF0DFB-1710-7BC5-31BE-3363E6B1AB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E2A2D8-A4CD-429A-069B-CE8CCB78C0E0}"/>
              </a:ext>
            </a:extLst>
          </p:cNvPr>
          <p:cNvSpPr>
            <a:spLocks noGrp="1"/>
          </p:cNvSpPr>
          <p:nvPr>
            <p:ph type="dt" sz="half" idx="10"/>
          </p:nvPr>
        </p:nvSpPr>
        <p:spPr/>
        <p:txBody>
          <a:bodyPr/>
          <a:lstStyle/>
          <a:p>
            <a:fld id="{1D59B54C-2D45-4929-A6CC-24C86DACCF2D}" type="datetimeFigureOut">
              <a:rPr lang="en-US" smtClean="0"/>
              <a:t>4/27/2026</a:t>
            </a:fld>
            <a:endParaRPr lang="en-US"/>
          </a:p>
        </p:txBody>
      </p:sp>
      <p:sp>
        <p:nvSpPr>
          <p:cNvPr id="5" name="Footer Placeholder 4">
            <a:extLst>
              <a:ext uri="{FF2B5EF4-FFF2-40B4-BE49-F238E27FC236}">
                <a16:creationId xmlns:a16="http://schemas.microsoft.com/office/drawing/2014/main" id="{E3290402-EA53-0C7A-BAA0-B9E1DD1148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5AD000-9D3B-8D7B-678C-3218DF73D0F3}"/>
              </a:ext>
            </a:extLst>
          </p:cNvPr>
          <p:cNvSpPr>
            <a:spLocks noGrp="1"/>
          </p:cNvSpPr>
          <p:nvPr>
            <p:ph type="sldNum" sz="quarter" idx="12"/>
          </p:nvPr>
        </p:nvSpPr>
        <p:spPr/>
        <p:txBody>
          <a:bodyPr/>
          <a:lstStyle/>
          <a:p>
            <a:fld id="{0D3AA770-1623-4E62-A1B2-20C8F8C6FF96}" type="slidenum">
              <a:rPr lang="en-US" smtClean="0"/>
              <a:t>‹#›</a:t>
            </a:fld>
            <a:endParaRPr lang="en-US"/>
          </a:p>
        </p:txBody>
      </p:sp>
    </p:spTree>
    <p:extLst>
      <p:ext uri="{BB962C8B-B14F-4D97-AF65-F5344CB8AC3E}">
        <p14:creationId xmlns:p14="http://schemas.microsoft.com/office/powerpoint/2010/main" val="1005414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8B2C8-CBD1-69C0-7776-C944372246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62F103-6CEA-C7F3-03E2-1C49316811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E94D99-3600-825D-C544-240A1AF39D23}"/>
              </a:ext>
            </a:extLst>
          </p:cNvPr>
          <p:cNvSpPr>
            <a:spLocks noGrp="1"/>
          </p:cNvSpPr>
          <p:nvPr>
            <p:ph type="dt" sz="half" idx="10"/>
          </p:nvPr>
        </p:nvSpPr>
        <p:spPr/>
        <p:txBody>
          <a:bodyPr/>
          <a:lstStyle/>
          <a:p>
            <a:fld id="{1D59B54C-2D45-4929-A6CC-24C86DACCF2D}" type="datetimeFigureOut">
              <a:rPr lang="en-US" smtClean="0"/>
              <a:t>4/27/2026</a:t>
            </a:fld>
            <a:endParaRPr lang="en-US"/>
          </a:p>
        </p:txBody>
      </p:sp>
      <p:sp>
        <p:nvSpPr>
          <p:cNvPr id="5" name="Footer Placeholder 4">
            <a:extLst>
              <a:ext uri="{FF2B5EF4-FFF2-40B4-BE49-F238E27FC236}">
                <a16:creationId xmlns:a16="http://schemas.microsoft.com/office/drawing/2014/main" id="{167A490F-B5DC-5841-D99D-C34789046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C8C079-77DC-D13C-12BE-C158A22E1782}"/>
              </a:ext>
            </a:extLst>
          </p:cNvPr>
          <p:cNvSpPr>
            <a:spLocks noGrp="1"/>
          </p:cNvSpPr>
          <p:nvPr>
            <p:ph type="sldNum" sz="quarter" idx="12"/>
          </p:nvPr>
        </p:nvSpPr>
        <p:spPr/>
        <p:txBody>
          <a:bodyPr/>
          <a:lstStyle/>
          <a:p>
            <a:fld id="{0D3AA770-1623-4E62-A1B2-20C8F8C6FF96}" type="slidenum">
              <a:rPr lang="en-US" smtClean="0"/>
              <a:t>‹#›</a:t>
            </a:fld>
            <a:endParaRPr lang="en-US"/>
          </a:p>
        </p:txBody>
      </p:sp>
    </p:spTree>
    <p:extLst>
      <p:ext uri="{BB962C8B-B14F-4D97-AF65-F5344CB8AC3E}">
        <p14:creationId xmlns:p14="http://schemas.microsoft.com/office/powerpoint/2010/main" val="1093618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4334-B1D8-A6FC-1AF5-3C8BDEA503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222890-3E5A-A7C5-9C07-F706E01883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1F62B4-E8D7-AC6D-946E-6193121ADE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49D22B-621F-0C70-5F60-4B903A41E7E4}"/>
              </a:ext>
            </a:extLst>
          </p:cNvPr>
          <p:cNvSpPr>
            <a:spLocks noGrp="1"/>
          </p:cNvSpPr>
          <p:nvPr>
            <p:ph type="dt" sz="half" idx="10"/>
          </p:nvPr>
        </p:nvSpPr>
        <p:spPr/>
        <p:txBody>
          <a:bodyPr/>
          <a:lstStyle/>
          <a:p>
            <a:fld id="{1D59B54C-2D45-4929-A6CC-24C86DACCF2D}" type="datetimeFigureOut">
              <a:rPr lang="en-US" smtClean="0"/>
              <a:t>4/27/2026</a:t>
            </a:fld>
            <a:endParaRPr lang="en-US"/>
          </a:p>
        </p:txBody>
      </p:sp>
      <p:sp>
        <p:nvSpPr>
          <p:cNvPr id="6" name="Footer Placeholder 5">
            <a:extLst>
              <a:ext uri="{FF2B5EF4-FFF2-40B4-BE49-F238E27FC236}">
                <a16:creationId xmlns:a16="http://schemas.microsoft.com/office/drawing/2014/main" id="{6C41540E-21BF-1D4C-DEEA-3A0EF21D1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E052CF-599E-BE65-6235-1908A7FF621C}"/>
              </a:ext>
            </a:extLst>
          </p:cNvPr>
          <p:cNvSpPr>
            <a:spLocks noGrp="1"/>
          </p:cNvSpPr>
          <p:nvPr>
            <p:ph type="sldNum" sz="quarter" idx="12"/>
          </p:nvPr>
        </p:nvSpPr>
        <p:spPr/>
        <p:txBody>
          <a:bodyPr/>
          <a:lstStyle/>
          <a:p>
            <a:fld id="{0D3AA770-1623-4E62-A1B2-20C8F8C6FF96}" type="slidenum">
              <a:rPr lang="en-US" smtClean="0"/>
              <a:t>‹#›</a:t>
            </a:fld>
            <a:endParaRPr lang="en-US"/>
          </a:p>
        </p:txBody>
      </p:sp>
    </p:spTree>
    <p:extLst>
      <p:ext uri="{BB962C8B-B14F-4D97-AF65-F5344CB8AC3E}">
        <p14:creationId xmlns:p14="http://schemas.microsoft.com/office/powerpoint/2010/main" val="967360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B5ABB-BB59-E95E-0348-62B596CDB8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6EDAD6-0648-9433-84AB-91A8F5835B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8E3588-0E25-9281-A016-DFD519B87C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5E6F09-BCE9-04E2-7417-4ABCD3B920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165BAB-E231-1830-07E9-B443900ABB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751D-0D09-7F1B-2FE2-76DD59B8E35C}"/>
              </a:ext>
            </a:extLst>
          </p:cNvPr>
          <p:cNvSpPr>
            <a:spLocks noGrp="1"/>
          </p:cNvSpPr>
          <p:nvPr>
            <p:ph type="dt" sz="half" idx="10"/>
          </p:nvPr>
        </p:nvSpPr>
        <p:spPr/>
        <p:txBody>
          <a:bodyPr/>
          <a:lstStyle/>
          <a:p>
            <a:fld id="{1D59B54C-2D45-4929-A6CC-24C86DACCF2D}" type="datetimeFigureOut">
              <a:rPr lang="en-US" smtClean="0"/>
              <a:t>4/27/2026</a:t>
            </a:fld>
            <a:endParaRPr lang="en-US"/>
          </a:p>
        </p:txBody>
      </p:sp>
      <p:sp>
        <p:nvSpPr>
          <p:cNvPr id="8" name="Footer Placeholder 7">
            <a:extLst>
              <a:ext uri="{FF2B5EF4-FFF2-40B4-BE49-F238E27FC236}">
                <a16:creationId xmlns:a16="http://schemas.microsoft.com/office/drawing/2014/main" id="{A75A1C26-0533-F60C-D304-E9F4B8CB12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B2DA33-3AE0-6B5F-C54B-E5FA41A1FF2B}"/>
              </a:ext>
            </a:extLst>
          </p:cNvPr>
          <p:cNvSpPr>
            <a:spLocks noGrp="1"/>
          </p:cNvSpPr>
          <p:nvPr>
            <p:ph type="sldNum" sz="quarter" idx="12"/>
          </p:nvPr>
        </p:nvSpPr>
        <p:spPr/>
        <p:txBody>
          <a:bodyPr/>
          <a:lstStyle/>
          <a:p>
            <a:fld id="{0D3AA770-1623-4E62-A1B2-20C8F8C6FF96}" type="slidenum">
              <a:rPr lang="en-US" smtClean="0"/>
              <a:t>‹#›</a:t>
            </a:fld>
            <a:endParaRPr lang="en-US"/>
          </a:p>
        </p:txBody>
      </p:sp>
    </p:spTree>
    <p:extLst>
      <p:ext uri="{BB962C8B-B14F-4D97-AF65-F5344CB8AC3E}">
        <p14:creationId xmlns:p14="http://schemas.microsoft.com/office/powerpoint/2010/main" val="2200978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34291-ACB1-DF7E-A3AB-C5D5C124F4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C4F34BA-1786-4D7F-4B8C-BC6514B48A3E}"/>
              </a:ext>
            </a:extLst>
          </p:cNvPr>
          <p:cNvSpPr>
            <a:spLocks noGrp="1"/>
          </p:cNvSpPr>
          <p:nvPr>
            <p:ph type="dt" sz="half" idx="10"/>
          </p:nvPr>
        </p:nvSpPr>
        <p:spPr/>
        <p:txBody>
          <a:bodyPr/>
          <a:lstStyle/>
          <a:p>
            <a:fld id="{1D59B54C-2D45-4929-A6CC-24C86DACCF2D}" type="datetimeFigureOut">
              <a:rPr lang="en-US" smtClean="0"/>
              <a:t>4/27/2026</a:t>
            </a:fld>
            <a:endParaRPr lang="en-US"/>
          </a:p>
        </p:txBody>
      </p:sp>
      <p:sp>
        <p:nvSpPr>
          <p:cNvPr id="4" name="Footer Placeholder 3">
            <a:extLst>
              <a:ext uri="{FF2B5EF4-FFF2-40B4-BE49-F238E27FC236}">
                <a16:creationId xmlns:a16="http://schemas.microsoft.com/office/drawing/2014/main" id="{F6E9EB6F-E2B6-DAD6-3493-BB6D0FFD7A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746E54-64DF-B6F3-9DBE-0A0A62F31642}"/>
              </a:ext>
            </a:extLst>
          </p:cNvPr>
          <p:cNvSpPr>
            <a:spLocks noGrp="1"/>
          </p:cNvSpPr>
          <p:nvPr>
            <p:ph type="sldNum" sz="quarter" idx="12"/>
          </p:nvPr>
        </p:nvSpPr>
        <p:spPr/>
        <p:txBody>
          <a:bodyPr/>
          <a:lstStyle/>
          <a:p>
            <a:fld id="{0D3AA770-1623-4E62-A1B2-20C8F8C6FF96}" type="slidenum">
              <a:rPr lang="en-US" smtClean="0"/>
              <a:t>‹#›</a:t>
            </a:fld>
            <a:endParaRPr lang="en-US"/>
          </a:p>
        </p:txBody>
      </p:sp>
    </p:spTree>
    <p:extLst>
      <p:ext uri="{BB962C8B-B14F-4D97-AF65-F5344CB8AC3E}">
        <p14:creationId xmlns:p14="http://schemas.microsoft.com/office/powerpoint/2010/main" val="4027631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9E5B3C-0268-B722-2A57-E477A2D93134}"/>
              </a:ext>
            </a:extLst>
          </p:cNvPr>
          <p:cNvSpPr>
            <a:spLocks noGrp="1"/>
          </p:cNvSpPr>
          <p:nvPr>
            <p:ph type="dt" sz="half" idx="10"/>
          </p:nvPr>
        </p:nvSpPr>
        <p:spPr/>
        <p:txBody>
          <a:bodyPr/>
          <a:lstStyle/>
          <a:p>
            <a:fld id="{1D59B54C-2D45-4929-A6CC-24C86DACCF2D}" type="datetimeFigureOut">
              <a:rPr lang="en-US" smtClean="0"/>
              <a:t>4/27/2026</a:t>
            </a:fld>
            <a:endParaRPr lang="en-US"/>
          </a:p>
        </p:txBody>
      </p:sp>
      <p:sp>
        <p:nvSpPr>
          <p:cNvPr id="3" name="Footer Placeholder 2">
            <a:extLst>
              <a:ext uri="{FF2B5EF4-FFF2-40B4-BE49-F238E27FC236}">
                <a16:creationId xmlns:a16="http://schemas.microsoft.com/office/drawing/2014/main" id="{A1617204-D91A-FD5B-C71A-B835D740D91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6606613-D5F2-69A5-8528-7DE1649623B8}"/>
              </a:ext>
            </a:extLst>
          </p:cNvPr>
          <p:cNvSpPr>
            <a:spLocks noGrp="1"/>
          </p:cNvSpPr>
          <p:nvPr>
            <p:ph type="sldNum" sz="quarter" idx="12"/>
          </p:nvPr>
        </p:nvSpPr>
        <p:spPr/>
        <p:txBody>
          <a:bodyPr/>
          <a:lstStyle/>
          <a:p>
            <a:fld id="{0D3AA770-1623-4E62-A1B2-20C8F8C6FF96}" type="slidenum">
              <a:rPr lang="en-US" smtClean="0"/>
              <a:t>‹#›</a:t>
            </a:fld>
            <a:endParaRPr lang="en-US"/>
          </a:p>
        </p:txBody>
      </p:sp>
    </p:spTree>
    <p:extLst>
      <p:ext uri="{BB962C8B-B14F-4D97-AF65-F5344CB8AC3E}">
        <p14:creationId xmlns:p14="http://schemas.microsoft.com/office/powerpoint/2010/main" val="2080496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DF5E7-ADA2-4EE3-D8A7-D6B09A78B3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A283D8-F30A-8E74-1788-7F4516F938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59C446-FD1E-F384-DB95-127302B43A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DBB250-AEF0-83DA-6F9C-45737DF94FD5}"/>
              </a:ext>
            </a:extLst>
          </p:cNvPr>
          <p:cNvSpPr>
            <a:spLocks noGrp="1"/>
          </p:cNvSpPr>
          <p:nvPr>
            <p:ph type="dt" sz="half" idx="10"/>
          </p:nvPr>
        </p:nvSpPr>
        <p:spPr/>
        <p:txBody>
          <a:bodyPr/>
          <a:lstStyle/>
          <a:p>
            <a:fld id="{1D59B54C-2D45-4929-A6CC-24C86DACCF2D}" type="datetimeFigureOut">
              <a:rPr lang="en-US" smtClean="0"/>
              <a:t>4/27/2026</a:t>
            </a:fld>
            <a:endParaRPr lang="en-US"/>
          </a:p>
        </p:txBody>
      </p:sp>
      <p:sp>
        <p:nvSpPr>
          <p:cNvPr id="6" name="Footer Placeholder 5">
            <a:extLst>
              <a:ext uri="{FF2B5EF4-FFF2-40B4-BE49-F238E27FC236}">
                <a16:creationId xmlns:a16="http://schemas.microsoft.com/office/drawing/2014/main" id="{3BD5484F-4A68-30FD-F030-4FCF41BD6F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E383DD-4718-F9A9-6373-45DCFFA1188A}"/>
              </a:ext>
            </a:extLst>
          </p:cNvPr>
          <p:cNvSpPr>
            <a:spLocks noGrp="1"/>
          </p:cNvSpPr>
          <p:nvPr>
            <p:ph type="sldNum" sz="quarter" idx="12"/>
          </p:nvPr>
        </p:nvSpPr>
        <p:spPr/>
        <p:txBody>
          <a:bodyPr/>
          <a:lstStyle/>
          <a:p>
            <a:fld id="{0D3AA770-1623-4E62-A1B2-20C8F8C6FF96}" type="slidenum">
              <a:rPr lang="en-US" smtClean="0"/>
              <a:t>‹#›</a:t>
            </a:fld>
            <a:endParaRPr lang="en-US"/>
          </a:p>
        </p:txBody>
      </p:sp>
    </p:spTree>
    <p:extLst>
      <p:ext uri="{BB962C8B-B14F-4D97-AF65-F5344CB8AC3E}">
        <p14:creationId xmlns:p14="http://schemas.microsoft.com/office/powerpoint/2010/main" val="3963095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74715-F450-7F4A-0475-00CCF5912A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CE8C53B-ED3A-879C-4B40-1E4B802CC3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C3CBA26-3D53-FD36-01A3-BCC56A4C83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B91053-982D-45C6-DDEC-B6674D47087B}"/>
              </a:ext>
            </a:extLst>
          </p:cNvPr>
          <p:cNvSpPr>
            <a:spLocks noGrp="1"/>
          </p:cNvSpPr>
          <p:nvPr>
            <p:ph type="dt" sz="half" idx="10"/>
          </p:nvPr>
        </p:nvSpPr>
        <p:spPr/>
        <p:txBody>
          <a:bodyPr/>
          <a:lstStyle/>
          <a:p>
            <a:fld id="{1D59B54C-2D45-4929-A6CC-24C86DACCF2D}" type="datetimeFigureOut">
              <a:rPr lang="en-US" smtClean="0"/>
              <a:t>4/27/2026</a:t>
            </a:fld>
            <a:endParaRPr lang="en-US"/>
          </a:p>
        </p:txBody>
      </p:sp>
      <p:sp>
        <p:nvSpPr>
          <p:cNvPr id="6" name="Footer Placeholder 5">
            <a:extLst>
              <a:ext uri="{FF2B5EF4-FFF2-40B4-BE49-F238E27FC236}">
                <a16:creationId xmlns:a16="http://schemas.microsoft.com/office/drawing/2014/main" id="{44C7680E-646D-A451-B242-B0F4E07094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B40BF2-967F-288E-E96A-73225F18F461}"/>
              </a:ext>
            </a:extLst>
          </p:cNvPr>
          <p:cNvSpPr>
            <a:spLocks noGrp="1"/>
          </p:cNvSpPr>
          <p:nvPr>
            <p:ph type="sldNum" sz="quarter" idx="12"/>
          </p:nvPr>
        </p:nvSpPr>
        <p:spPr/>
        <p:txBody>
          <a:bodyPr/>
          <a:lstStyle/>
          <a:p>
            <a:fld id="{0D3AA770-1623-4E62-A1B2-20C8F8C6FF96}" type="slidenum">
              <a:rPr lang="en-US" smtClean="0"/>
              <a:t>‹#›</a:t>
            </a:fld>
            <a:endParaRPr lang="en-US"/>
          </a:p>
        </p:txBody>
      </p:sp>
    </p:spTree>
    <p:extLst>
      <p:ext uri="{BB962C8B-B14F-4D97-AF65-F5344CB8AC3E}">
        <p14:creationId xmlns:p14="http://schemas.microsoft.com/office/powerpoint/2010/main" val="509173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D1EBB-F9B9-C005-156D-72D58A9040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7AE8EE-4749-A9C3-4266-C6DD3837B7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BFDB1D-0100-897F-06E6-F356FC7E4289}"/>
              </a:ext>
            </a:extLst>
          </p:cNvPr>
          <p:cNvSpPr>
            <a:spLocks noGrp="1"/>
          </p:cNvSpPr>
          <p:nvPr>
            <p:ph type="dt" sz="half" idx="10"/>
          </p:nvPr>
        </p:nvSpPr>
        <p:spPr/>
        <p:txBody>
          <a:bodyPr/>
          <a:lstStyle/>
          <a:p>
            <a:fld id="{1D59B54C-2D45-4929-A6CC-24C86DACCF2D}" type="datetimeFigureOut">
              <a:rPr lang="en-US" smtClean="0"/>
              <a:t>4/27/2026</a:t>
            </a:fld>
            <a:endParaRPr lang="en-US"/>
          </a:p>
        </p:txBody>
      </p:sp>
      <p:sp>
        <p:nvSpPr>
          <p:cNvPr id="5" name="Footer Placeholder 4">
            <a:extLst>
              <a:ext uri="{FF2B5EF4-FFF2-40B4-BE49-F238E27FC236}">
                <a16:creationId xmlns:a16="http://schemas.microsoft.com/office/drawing/2014/main" id="{D011A3F4-3973-A8F4-D955-58A24FC3AA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259FDF-29DA-6068-3E3E-0BE999A5ADB6}"/>
              </a:ext>
            </a:extLst>
          </p:cNvPr>
          <p:cNvSpPr>
            <a:spLocks noGrp="1"/>
          </p:cNvSpPr>
          <p:nvPr>
            <p:ph type="sldNum" sz="quarter" idx="12"/>
          </p:nvPr>
        </p:nvSpPr>
        <p:spPr/>
        <p:txBody>
          <a:bodyPr/>
          <a:lstStyle/>
          <a:p>
            <a:fld id="{0D3AA770-1623-4E62-A1B2-20C8F8C6FF96}" type="slidenum">
              <a:rPr lang="en-US" smtClean="0"/>
              <a:t>‹#›</a:t>
            </a:fld>
            <a:endParaRPr lang="en-US"/>
          </a:p>
        </p:txBody>
      </p:sp>
    </p:spTree>
    <p:extLst>
      <p:ext uri="{BB962C8B-B14F-4D97-AF65-F5344CB8AC3E}">
        <p14:creationId xmlns:p14="http://schemas.microsoft.com/office/powerpoint/2010/main" val="2613098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AAB095-A505-DBA1-35D2-F6BECB07C9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9BE6B0-5243-7DDC-EA6B-DCDC2F520D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92DF46-7DA0-05CB-47E5-712028EFE126}"/>
              </a:ext>
            </a:extLst>
          </p:cNvPr>
          <p:cNvSpPr>
            <a:spLocks noGrp="1"/>
          </p:cNvSpPr>
          <p:nvPr>
            <p:ph type="dt" sz="half" idx="10"/>
          </p:nvPr>
        </p:nvSpPr>
        <p:spPr/>
        <p:txBody>
          <a:bodyPr/>
          <a:lstStyle/>
          <a:p>
            <a:fld id="{1D59B54C-2D45-4929-A6CC-24C86DACCF2D}" type="datetimeFigureOut">
              <a:rPr lang="en-US" smtClean="0"/>
              <a:t>4/27/2026</a:t>
            </a:fld>
            <a:endParaRPr lang="en-US"/>
          </a:p>
        </p:txBody>
      </p:sp>
      <p:sp>
        <p:nvSpPr>
          <p:cNvPr id="5" name="Footer Placeholder 4">
            <a:extLst>
              <a:ext uri="{FF2B5EF4-FFF2-40B4-BE49-F238E27FC236}">
                <a16:creationId xmlns:a16="http://schemas.microsoft.com/office/drawing/2014/main" id="{41E0E2A3-5ED6-CBE6-D615-593D019FB3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1DFC12-065B-FAA6-EF77-19AF890DDEA8}"/>
              </a:ext>
            </a:extLst>
          </p:cNvPr>
          <p:cNvSpPr>
            <a:spLocks noGrp="1"/>
          </p:cNvSpPr>
          <p:nvPr>
            <p:ph type="sldNum" sz="quarter" idx="12"/>
          </p:nvPr>
        </p:nvSpPr>
        <p:spPr/>
        <p:txBody>
          <a:bodyPr/>
          <a:lstStyle/>
          <a:p>
            <a:fld id="{0D3AA770-1623-4E62-A1B2-20C8F8C6FF96}" type="slidenum">
              <a:rPr lang="en-US" smtClean="0"/>
              <a:t>‹#›</a:t>
            </a:fld>
            <a:endParaRPr lang="en-US"/>
          </a:p>
        </p:txBody>
      </p:sp>
    </p:spTree>
    <p:extLst>
      <p:ext uri="{BB962C8B-B14F-4D97-AF65-F5344CB8AC3E}">
        <p14:creationId xmlns:p14="http://schemas.microsoft.com/office/powerpoint/2010/main" val="4110116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dashUpDiag">
          <a:fgClr>
            <a:srgbClr val="FFE6B9"/>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F2A803-5C0B-A63E-31E0-C1E9882BD2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3AF874-0D5A-01EE-8C0A-FA2F47D17C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11EC11-B8EA-2C65-BAE0-C54EB0D263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59B54C-2D45-4929-A6CC-24C86DACCF2D}" type="datetimeFigureOut">
              <a:rPr lang="en-US" smtClean="0"/>
              <a:t>4/27/2026</a:t>
            </a:fld>
            <a:endParaRPr lang="en-US"/>
          </a:p>
        </p:txBody>
      </p:sp>
      <p:sp>
        <p:nvSpPr>
          <p:cNvPr id="5" name="Footer Placeholder 4">
            <a:extLst>
              <a:ext uri="{FF2B5EF4-FFF2-40B4-BE49-F238E27FC236}">
                <a16:creationId xmlns:a16="http://schemas.microsoft.com/office/drawing/2014/main" id="{FC883995-3B1F-2AB4-679E-D864B6CF95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E3783B-CB3F-12C7-D6B1-6FCF76BE1F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3AA770-1623-4E62-A1B2-20C8F8C6FF96}" type="slidenum">
              <a:rPr lang="en-US" smtClean="0"/>
              <a:t>‹#›</a:t>
            </a:fld>
            <a:endParaRPr lang="en-US"/>
          </a:p>
        </p:txBody>
      </p:sp>
    </p:spTree>
    <p:extLst>
      <p:ext uri="{BB962C8B-B14F-4D97-AF65-F5344CB8AC3E}">
        <p14:creationId xmlns:p14="http://schemas.microsoft.com/office/powerpoint/2010/main" val="207827070"/>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DD586-245F-0EE5-17A1-69A20754736D}"/>
              </a:ext>
            </a:extLst>
          </p:cNvPr>
          <p:cNvSpPr>
            <a:spLocks noGrp="1"/>
          </p:cNvSpPr>
          <p:nvPr>
            <p:ph type="ctrTitle"/>
          </p:nvPr>
        </p:nvSpPr>
        <p:spPr>
          <a:xfrm>
            <a:off x="1524000" y="132522"/>
            <a:ext cx="9144000" cy="3377441"/>
          </a:xfrm>
        </p:spPr>
        <p:txBody>
          <a:bodyPr>
            <a:normAutofit/>
          </a:bodyPr>
          <a:lstStyle/>
          <a:p>
            <a:r>
              <a:rPr lang="en-US" sz="4000" dirty="0">
                <a:solidFill>
                  <a:srgbClr val="644C00"/>
                </a:solidFill>
                <a:latin typeface="Segoe UI Black" panose="020B0A02040204020203" pitchFamily="34" charset="0"/>
                <a:ea typeface="Segoe UI Black" panose="020B0A02040204020203" pitchFamily="34" charset="0"/>
              </a:rPr>
              <a:t>Sales Decline and Performance Analysis Report of Elite Crust Bakery</a:t>
            </a:r>
            <a:br>
              <a:rPr lang="en-US" sz="4000" dirty="0">
                <a:solidFill>
                  <a:srgbClr val="644C00"/>
                </a:solidFill>
                <a:latin typeface="Segoe UI Black" panose="020B0A02040204020203" pitchFamily="34" charset="0"/>
                <a:ea typeface="Segoe UI Black" panose="020B0A02040204020203" pitchFamily="34" charset="0"/>
              </a:rPr>
            </a:br>
            <a:endParaRPr lang="en-US" sz="4000" dirty="0">
              <a:solidFill>
                <a:srgbClr val="644C00"/>
              </a:solidFill>
              <a:latin typeface="Segoe UI Black" panose="020B0A02040204020203" pitchFamily="34" charset="0"/>
              <a:ea typeface="Segoe UI Black" panose="020B0A02040204020203" pitchFamily="34" charset="0"/>
            </a:endParaRPr>
          </a:p>
        </p:txBody>
      </p:sp>
      <p:sp>
        <p:nvSpPr>
          <p:cNvPr id="3" name="Subtitle 2">
            <a:extLst>
              <a:ext uri="{FF2B5EF4-FFF2-40B4-BE49-F238E27FC236}">
                <a16:creationId xmlns:a16="http://schemas.microsoft.com/office/drawing/2014/main" id="{ABC94A69-CE8A-FA44-F750-08E914DF1AC7}"/>
              </a:ext>
            </a:extLst>
          </p:cNvPr>
          <p:cNvSpPr>
            <a:spLocks noGrp="1"/>
          </p:cNvSpPr>
          <p:nvPr>
            <p:ph type="subTitle" idx="1"/>
          </p:nvPr>
        </p:nvSpPr>
        <p:spPr>
          <a:xfrm>
            <a:off x="1775792" y="3509963"/>
            <a:ext cx="9144000" cy="2162658"/>
          </a:xfrm>
        </p:spPr>
        <p:txBody>
          <a:bodyPr>
            <a:noAutofit/>
          </a:bodyPr>
          <a:lstStyle/>
          <a:p>
            <a:r>
              <a:rPr lang="en-US" sz="3200" b="1" dirty="0">
                <a:solidFill>
                  <a:srgbClr val="644C00"/>
                </a:solidFill>
                <a:latin typeface="Segoe UI Black" panose="020B0A02040204020203" pitchFamily="34" charset="0"/>
                <a:ea typeface="Segoe UI Black" panose="020B0A02040204020203" pitchFamily="34" charset="0"/>
              </a:rPr>
              <a:t>Presented by </a:t>
            </a:r>
          </a:p>
          <a:p>
            <a:endParaRPr lang="en-US" sz="2800" dirty="0">
              <a:latin typeface="Segoe UI Black" panose="020B0A02040204020203" pitchFamily="34" charset="0"/>
              <a:ea typeface="Segoe UI Black" panose="020B0A02040204020203" pitchFamily="34" charset="0"/>
            </a:endParaRPr>
          </a:p>
          <a:p>
            <a:r>
              <a:rPr lang="en-US" sz="2800" b="1" dirty="0">
                <a:solidFill>
                  <a:srgbClr val="644C00"/>
                </a:solidFill>
                <a:latin typeface="Segoe UI Black" panose="020B0A02040204020203" pitchFamily="34" charset="0"/>
                <a:ea typeface="Segoe UI Black" panose="020B0A02040204020203" pitchFamily="34" charset="0"/>
              </a:rPr>
              <a:t>Uduak JAMES</a:t>
            </a:r>
          </a:p>
        </p:txBody>
      </p:sp>
    </p:spTree>
    <p:extLst>
      <p:ext uri="{BB962C8B-B14F-4D97-AF65-F5344CB8AC3E}">
        <p14:creationId xmlns:p14="http://schemas.microsoft.com/office/powerpoint/2010/main" val="1787187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C37A9-7CD6-BDA0-DE46-8224EB0F7B52}"/>
              </a:ext>
            </a:extLst>
          </p:cNvPr>
          <p:cNvSpPr>
            <a:spLocks noGrp="1"/>
          </p:cNvSpPr>
          <p:nvPr>
            <p:ph type="title"/>
          </p:nvPr>
        </p:nvSpPr>
        <p:spPr>
          <a:xfrm>
            <a:off x="839788" y="-649357"/>
            <a:ext cx="3932237" cy="2706757"/>
          </a:xfrm>
        </p:spPr>
        <p:txBody>
          <a:bodyPr>
            <a:normAutofit fontScale="90000"/>
          </a:bodyPr>
          <a:lstStyle/>
          <a:p>
            <a:br>
              <a:rPr lang="en-US" sz="3600" b="1">
                <a:solidFill>
                  <a:srgbClr val="644C00"/>
                </a:solidFill>
                <a:latin typeface="Segoe UI Black" panose="020B0A02040204020203" pitchFamily="34" charset="0"/>
                <a:ea typeface="Segoe UI Black" panose="020B0A02040204020203" pitchFamily="34" charset="0"/>
              </a:rPr>
            </a:br>
            <a:br>
              <a:rPr lang="en-US" sz="3600" b="1">
                <a:solidFill>
                  <a:srgbClr val="644C00"/>
                </a:solidFill>
                <a:latin typeface="Segoe UI Black" panose="020B0A02040204020203" pitchFamily="34" charset="0"/>
                <a:ea typeface="Segoe UI Black" panose="020B0A02040204020203" pitchFamily="34" charset="0"/>
              </a:rPr>
            </a:br>
            <a:br>
              <a:rPr lang="en-US" sz="3600" b="1">
                <a:solidFill>
                  <a:srgbClr val="644C00"/>
                </a:solidFill>
                <a:latin typeface="Segoe UI Black" panose="020B0A02040204020203" pitchFamily="34" charset="0"/>
                <a:ea typeface="Segoe UI Black" panose="020B0A02040204020203" pitchFamily="34" charset="0"/>
              </a:rPr>
            </a:br>
            <a:br>
              <a:rPr lang="en-US" sz="3600" b="1">
                <a:solidFill>
                  <a:srgbClr val="644C00"/>
                </a:solidFill>
                <a:latin typeface="Segoe UI Black" panose="020B0A02040204020203" pitchFamily="34" charset="0"/>
                <a:ea typeface="Segoe UI Black" panose="020B0A02040204020203" pitchFamily="34" charset="0"/>
              </a:rPr>
            </a:br>
            <a:br>
              <a:rPr lang="en-US" sz="3600" b="1">
                <a:solidFill>
                  <a:srgbClr val="644C00"/>
                </a:solidFill>
                <a:latin typeface="Segoe UI Black" panose="020B0A02040204020203" pitchFamily="34" charset="0"/>
                <a:ea typeface="Segoe UI Black" panose="020B0A02040204020203" pitchFamily="34" charset="0"/>
              </a:rPr>
            </a:br>
            <a:br>
              <a:rPr lang="en-US" sz="3600" b="1">
                <a:solidFill>
                  <a:srgbClr val="644C00"/>
                </a:solidFill>
                <a:latin typeface="Segoe UI Black" panose="020B0A02040204020203" pitchFamily="34" charset="0"/>
                <a:ea typeface="Segoe UI Black" panose="020B0A02040204020203" pitchFamily="34" charset="0"/>
              </a:rPr>
            </a:br>
            <a:br>
              <a:rPr lang="en-US" sz="3600" b="1">
                <a:solidFill>
                  <a:srgbClr val="644C00"/>
                </a:solidFill>
                <a:latin typeface="Segoe UI Black" panose="020B0A02040204020203" pitchFamily="34" charset="0"/>
                <a:ea typeface="Segoe UI Black" panose="020B0A02040204020203" pitchFamily="34" charset="0"/>
              </a:rPr>
            </a:br>
            <a:br>
              <a:rPr lang="en-US" sz="3600" b="1">
                <a:solidFill>
                  <a:srgbClr val="644C00"/>
                </a:solidFill>
                <a:latin typeface="Segoe UI Black" panose="020B0A02040204020203" pitchFamily="34" charset="0"/>
                <a:ea typeface="Segoe UI Black" panose="020B0A02040204020203" pitchFamily="34" charset="0"/>
              </a:rPr>
            </a:br>
            <a:br>
              <a:rPr lang="en-US" sz="3600" b="1">
                <a:solidFill>
                  <a:srgbClr val="644C00"/>
                </a:solidFill>
                <a:latin typeface="Segoe UI Black" panose="020B0A02040204020203" pitchFamily="34" charset="0"/>
                <a:ea typeface="Segoe UI Black" panose="020B0A02040204020203" pitchFamily="34" charset="0"/>
              </a:rPr>
            </a:br>
            <a:br>
              <a:rPr lang="en-US" sz="3600" b="1">
                <a:solidFill>
                  <a:srgbClr val="644C00"/>
                </a:solidFill>
                <a:latin typeface="Segoe UI Black" panose="020B0A02040204020203" pitchFamily="34" charset="0"/>
                <a:ea typeface="Segoe UI Black" panose="020B0A02040204020203" pitchFamily="34" charset="0"/>
              </a:rPr>
            </a:br>
            <a:endParaRPr lang="en-US" sz="3600" dirty="0">
              <a:solidFill>
                <a:srgbClr val="644C00"/>
              </a:solidFill>
            </a:endParaRPr>
          </a:p>
        </p:txBody>
      </p:sp>
      <p:sp>
        <p:nvSpPr>
          <p:cNvPr id="7" name="Text Placeholder 6">
            <a:extLst>
              <a:ext uri="{FF2B5EF4-FFF2-40B4-BE49-F238E27FC236}">
                <a16:creationId xmlns:a16="http://schemas.microsoft.com/office/drawing/2014/main" id="{9F95E0CE-C751-28FA-E25D-E18B95CAAA25}"/>
              </a:ext>
            </a:extLst>
          </p:cNvPr>
          <p:cNvSpPr>
            <a:spLocks noGrp="1"/>
          </p:cNvSpPr>
          <p:nvPr>
            <p:ph type="body" sz="half" idx="2"/>
          </p:nvPr>
        </p:nvSpPr>
        <p:spPr>
          <a:xfrm>
            <a:off x="0" y="1"/>
            <a:ext cx="8070574" cy="6857998"/>
          </a:xfrm>
        </p:spPr>
        <p:txBody>
          <a:bodyPr>
            <a:normAutofit/>
          </a:bodyPr>
          <a:lstStyle/>
          <a:p>
            <a:endParaRPr lang="en-US" sz="3600" b="1" dirty="0">
              <a:solidFill>
                <a:srgbClr val="644C00"/>
              </a:solidFill>
              <a:latin typeface="Segoe UI Black" panose="020B0A02040204020203" pitchFamily="34" charset="0"/>
              <a:ea typeface="Segoe UI Black" panose="020B0A02040204020203" pitchFamily="34" charset="0"/>
            </a:endParaRPr>
          </a:p>
          <a:p>
            <a:r>
              <a:rPr lang="en-US" sz="3600" b="1" dirty="0">
                <a:solidFill>
                  <a:srgbClr val="644C00"/>
                </a:solidFill>
                <a:latin typeface="Segoe UI Black" panose="020B0A02040204020203" pitchFamily="34" charset="0"/>
                <a:ea typeface="Segoe UI Black" panose="020B0A02040204020203" pitchFamily="34" charset="0"/>
              </a:rPr>
              <a:t>Analysis Report Of Sales Deline And Performance For of Elite Crust Bakery</a:t>
            </a:r>
            <a:br>
              <a:rPr lang="en-US" sz="3600" b="1" dirty="0">
                <a:solidFill>
                  <a:srgbClr val="644C00"/>
                </a:solidFill>
                <a:latin typeface="Segoe UI Black" panose="020B0A02040204020203" pitchFamily="34" charset="0"/>
                <a:ea typeface="Segoe UI Black" panose="020B0A02040204020203" pitchFamily="34" charset="0"/>
              </a:rPr>
            </a:br>
            <a:endParaRPr lang="en-US" sz="3600" b="1" dirty="0">
              <a:solidFill>
                <a:srgbClr val="644C00"/>
              </a:solidFill>
              <a:latin typeface="Segoe UI Black" panose="020B0A02040204020203" pitchFamily="34" charset="0"/>
              <a:ea typeface="Segoe UI Black" panose="020B0A02040204020203" pitchFamily="34" charset="0"/>
            </a:endParaRPr>
          </a:p>
          <a:p>
            <a:r>
              <a:rPr lang="en-US" sz="3600" b="1" dirty="0">
                <a:solidFill>
                  <a:srgbClr val="644C00"/>
                </a:solidFill>
              </a:rPr>
              <a:t>Reporting Period</a:t>
            </a:r>
            <a:endParaRPr lang="en-US" sz="3600" b="0" dirty="0">
              <a:solidFill>
                <a:srgbClr val="644C00"/>
              </a:solidFill>
              <a:effectLst/>
            </a:endParaRPr>
          </a:p>
          <a:p>
            <a:r>
              <a:rPr lang="en-US" sz="3600" b="1" dirty="0">
                <a:solidFill>
                  <a:srgbClr val="644C00"/>
                </a:solidFill>
              </a:rPr>
              <a:t>2023 Sales ANALYSIS</a:t>
            </a:r>
            <a:endParaRPr lang="en-US" sz="3600" b="1" dirty="0">
              <a:solidFill>
                <a:srgbClr val="644C00"/>
              </a:solidFill>
              <a:effectLst/>
            </a:endParaRPr>
          </a:p>
          <a:p>
            <a:br>
              <a:rPr lang="en-US" sz="3600" dirty="0">
                <a:solidFill>
                  <a:srgbClr val="644C00"/>
                </a:solidFill>
              </a:rPr>
            </a:br>
            <a:endParaRPr lang="en-US" sz="3600" dirty="0">
              <a:solidFill>
                <a:srgbClr val="644C00"/>
              </a:solidFill>
            </a:endParaRPr>
          </a:p>
        </p:txBody>
      </p:sp>
      <p:pic>
        <p:nvPicPr>
          <p:cNvPr id="11" name="Picture Placeholder 10">
            <a:extLst>
              <a:ext uri="{FF2B5EF4-FFF2-40B4-BE49-F238E27FC236}">
                <a16:creationId xmlns:a16="http://schemas.microsoft.com/office/drawing/2014/main" id="{69178A85-3B1F-2A39-1400-E4D8D85215A9}"/>
              </a:ext>
            </a:extLst>
          </p:cNvPr>
          <p:cNvPicPr>
            <a:picLocks noGrp="1" noChangeAspect="1"/>
          </p:cNvPicPr>
          <p:nvPr>
            <p:ph type="pic" idx="1"/>
          </p:nvPr>
        </p:nvPicPr>
        <p:blipFill>
          <a:blip r:embed="rId2">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val="0"/>
              </a:ext>
            </a:extLst>
          </a:blip>
          <a:srcRect t="10520" b="10520"/>
          <a:stretch>
            <a:fillRect/>
          </a:stretch>
        </p:blipFill>
        <p:spPr>
          <a:xfrm>
            <a:off x="8318500" y="1939925"/>
            <a:ext cx="3873500" cy="4918074"/>
          </a:xfrm>
          <a:prstGeom prst="rect">
            <a:avLst/>
          </a:prstGeom>
        </p:spPr>
      </p:pic>
    </p:spTree>
    <p:extLst>
      <p:ext uri="{BB962C8B-B14F-4D97-AF65-F5344CB8AC3E}">
        <p14:creationId xmlns:p14="http://schemas.microsoft.com/office/powerpoint/2010/main" val="1519444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89684-6EAB-90C1-FA64-A7F1EE6678EE}"/>
              </a:ext>
            </a:extLst>
          </p:cNvPr>
          <p:cNvSpPr>
            <a:spLocks noGrp="1"/>
          </p:cNvSpPr>
          <p:nvPr>
            <p:ph type="title"/>
          </p:nvPr>
        </p:nvSpPr>
        <p:spPr>
          <a:xfrm>
            <a:off x="838200" y="365125"/>
            <a:ext cx="10515600" cy="1357658"/>
          </a:xfrm>
        </p:spPr>
        <p:txBody>
          <a:bodyPr>
            <a:normAutofit fontScale="90000"/>
          </a:bodyPr>
          <a:lstStyle/>
          <a:p>
            <a:pPr algn="ctr"/>
            <a:r>
              <a:rPr lang="en-US" sz="3600" u="sng" dirty="0">
                <a:solidFill>
                  <a:srgbClr val="644C00"/>
                </a:solidFill>
                <a:latin typeface="Segoe UI Black" panose="020B0A02040204020203" pitchFamily="34" charset="0"/>
                <a:ea typeface="Segoe UI Black" panose="020B0A02040204020203" pitchFamily="34" charset="0"/>
              </a:rPr>
              <a:t>PROBLEM STATEMENT</a:t>
            </a:r>
            <a:br>
              <a:rPr lang="en-US" sz="3600" dirty="0">
                <a:solidFill>
                  <a:srgbClr val="644C00"/>
                </a:solidFill>
                <a:effectLst/>
                <a:latin typeface="Segoe UI Black" panose="020B0A02040204020203" pitchFamily="34" charset="0"/>
                <a:ea typeface="Segoe UI Black" panose="020B0A02040204020203" pitchFamily="34" charset="0"/>
              </a:rPr>
            </a:br>
            <a:br>
              <a:rPr lang="en-US" sz="3600" dirty="0">
                <a:solidFill>
                  <a:srgbClr val="644C00"/>
                </a:solidFill>
                <a:latin typeface="Segoe UI Black" panose="020B0A02040204020203" pitchFamily="34" charset="0"/>
                <a:ea typeface="Segoe UI Black" panose="020B0A02040204020203" pitchFamily="34" charset="0"/>
              </a:rPr>
            </a:br>
            <a:endParaRPr lang="en-US" sz="3600" dirty="0">
              <a:solidFill>
                <a:srgbClr val="644C00"/>
              </a:solidFill>
              <a:latin typeface="Segoe UI Black" panose="020B0A02040204020203" pitchFamily="34" charset="0"/>
              <a:ea typeface="Segoe UI Black" panose="020B0A02040204020203" pitchFamily="34" charset="0"/>
            </a:endParaRPr>
          </a:p>
        </p:txBody>
      </p:sp>
      <p:sp>
        <p:nvSpPr>
          <p:cNvPr id="4" name="Content Placeholder 3">
            <a:extLst>
              <a:ext uri="{FF2B5EF4-FFF2-40B4-BE49-F238E27FC236}">
                <a16:creationId xmlns:a16="http://schemas.microsoft.com/office/drawing/2014/main" id="{7CD9040B-C46F-C8A2-97AB-2E6FC028CA13}"/>
              </a:ext>
            </a:extLst>
          </p:cNvPr>
          <p:cNvSpPr>
            <a:spLocks noGrp="1"/>
          </p:cNvSpPr>
          <p:nvPr>
            <p:ph idx="1"/>
          </p:nvPr>
        </p:nvSpPr>
        <p:spPr>
          <a:xfrm>
            <a:off x="304800" y="874643"/>
            <a:ext cx="11049000" cy="5302319"/>
          </a:xfrm>
        </p:spPr>
        <p:txBody>
          <a:bodyPr>
            <a:normAutofit fontScale="92500" lnSpcReduction="10000"/>
          </a:bodyPr>
          <a:lstStyle/>
          <a:p>
            <a:pPr marL="0" indent="0">
              <a:buNone/>
            </a:pPr>
            <a:br>
              <a:rPr lang="en-US" dirty="0"/>
            </a:br>
            <a:r>
              <a:rPr lang="en-US" sz="2600" dirty="0">
                <a:solidFill>
                  <a:srgbClr val="644C00"/>
                </a:solidFill>
              </a:rPr>
              <a:t>Elite Crust Bakery, a growing retail bakery business, aims to analyze its sales, product performance, and customer data to improve business efficiency, increase profitability, and address declining sales in certain regions.</a:t>
            </a:r>
          </a:p>
          <a:p>
            <a:pPr marL="0" indent="0">
              <a:buNone/>
            </a:pPr>
            <a:endParaRPr lang="en-US" sz="2600" dirty="0"/>
          </a:p>
          <a:p>
            <a:pPr marL="0" indent="0">
              <a:buNone/>
            </a:pPr>
            <a:r>
              <a:rPr lang="en-US" b="1" dirty="0">
                <a:solidFill>
                  <a:srgbClr val="644C00"/>
                </a:solidFill>
                <a:latin typeface="Segoe UI Black" panose="020B0A02040204020203" pitchFamily="34" charset="0"/>
                <a:ea typeface="Segoe UI Black" panose="020B0A02040204020203" pitchFamily="34" charset="0"/>
              </a:rPr>
              <a:t>This Analysis Aims To:</a:t>
            </a:r>
          </a:p>
          <a:p>
            <a:pPr>
              <a:lnSpc>
                <a:spcPct val="110000"/>
              </a:lnSpc>
            </a:pPr>
            <a:r>
              <a:rPr lang="en-US" sz="2600" dirty="0">
                <a:solidFill>
                  <a:srgbClr val="644C00"/>
                </a:solidFill>
                <a:latin typeface="Times New Roman" panose="02020603050405020304" pitchFamily="18" charset="0"/>
                <a:cs typeface="Times New Roman" panose="02020603050405020304" pitchFamily="18" charset="0"/>
              </a:rPr>
              <a:t>Analyze sales trends to identify causes of revenue decline </a:t>
            </a:r>
          </a:p>
          <a:p>
            <a:pPr>
              <a:lnSpc>
                <a:spcPct val="110000"/>
              </a:lnSpc>
            </a:pPr>
            <a:r>
              <a:rPr lang="en-US" sz="2600" dirty="0">
                <a:solidFill>
                  <a:srgbClr val="644C00"/>
                </a:solidFill>
                <a:latin typeface="Times New Roman" panose="02020603050405020304" pitchFamily="18" charset="0"/>
                <a:cs typeface="Times New Roman" panose="02020603050405020304" pitchFamily="18" charset="0"/>
              </a:rPr>
              <a:t>Evaluate product performance and profitability </a:t>
            </a:r>
          </a:p>
          <a:p>
            <a:pPr>
              <a:lnSpc>
                <a:spcPct val="110000"/>
              </a:lnSpc>
            </a:pPr>
            <a:r>
              <a:rPr lang="en-US" sz="2600" dirty="0">
                <a:solidFill>
                  <a:srgbClr val="644C00"/>
                </a:solidFill>
                <a:latin typeface="Times New Roman" panose="02020603050405020304" pitchFamily="18" charset="0"/>
                <a:cs typeface="Times New Roman" panose="02020603050405020304" pitchFamily="18" charset="0"/>
              </a:rPr>
              <a:t>Compare store performance across regions </a:t>
            </a:r>
          </a:p>
          <a:p>
            <a:pPr>
              <a:lnSpc>
                <a:spcPct val="110000"/>
              </a:lnSpc>
            </a:pPr>
            <a:r>
              <a:rPr lang="en-US" sz="2600" dirty="0">
                <a:solidFill>
                  <a:srgbClr val="644C00"/>
                </a:solidFill>
                <a:latin typeface="Times New Roman" panose="02020603050405020304" pitchFamily="18" charset="0"/>
                <a:cs typeface="Times New Roman" panose="02020603050405020304" pitchFamily="18" charset="0"/>
              </a:rPr>
              <a:t>Understand customer behavior and retention patterns </a:t>
            </a:r>
          </a:p>
          <a:p>
            <a:pPr>
              <a:lnSpc>
                <a:spcPct val="110000"/>
              </a:lnSpc>
            </a:pPr>
            <a:r>
              <a:rPr lang="en-US" sz="2600" dirty="0">
                <a:solidFill>
                  <a:srgbClr val="644C00"/>
                </a:solidFill>
                <a:latin typeface="Times New Roman" panose="02020603050405020304" pitchFamily="18" charset="0"/>
                <a:cs typeface="Times New Roman" panose="02020603050405020304" pitchFamily="18" charset="0"/>
              </a:rPr>
              <a:t>Identify pricing and inventory inefficiencies </a:t>
            </a:r>
          </a:p>
          <a:p>
            <a:pPr>
              <a:lnSpc>
                <a:spcPct val="110000"/>
              </a:lnSpc>
            </a:pPr>
            <a:r>
              <a:rPr lang="en-US" sz="2600" dirty="0">
                <a:solidFill>
                  <a:srgbClr val="644C00"/>
                </a:solidFill>
                <a:latin typeface="Times New Roman" panose="02020603050405020304" pitchFamily="18" charset="0"/>
                <a:cs typeface="Times New Roman" panose="02020603050405020304" pitchFamily="18" charset="0"/>
              </a:rPr>
              <a:t>Provide data-driven recommendations to improve performance </a:t>
            </a:r>
          </a:p>
          <a:p>
            <a:pPr marL="0" indent="0">
              <a:buNone/>
            </a:pPr>
            <a:endParaRPr lang="en-US" dirty="0">
              <a:solidFill>
                <a:srgbClr val="644C00"/>
              </a:solidFill>
            </a:endParaRPr>
          </a:p>
        </p:txBody>
      </p:sp>
    </p:spTree>
    <p:extLst>
      <p:ext uri="{BB962C8B-B14F-4D97-AF65-F5344CB8AC3E}">
        <p14:creationId xmlns:p14="http://schemas.microsoft.com/office/powerpoint/2010/main" val="2916398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52AE3-35BC-98C6-B02C-E1F9208418C8}"/>
              </a:ext>
            </a:extLst>
          </p:cNvPr>
          <p:cNvSpPr>
            <a:spLocks noGrp="1"/>
          </p:cNvSpPr>
          <p:nvPr>
            <p:ph type="title"/>
          </p:nvPr>
        </p:nvSpPr>
        <p:spPr>
          <a:xfrm>
            <a:off x="838200" y="106018"/>
            <a:ext cx="10515600" cy="821634"/>
          </a:xfrm>
        </p:spPr>
        <p:txBody>
          <a:bodyPr>
            <a:normAutofit/>
          </a:bodyPr>
          <a:lstStyle/>
          <a:p>
            <a:pPr algn="ctr"/>
            <a:r>
              <a:rPr lang="en-US" sz="3600" b="1" u="sng" dirty="0">
                <a:solidFill>
                  <a:srgbClr val="644C00"/>
                </a:solidFill>
                <a:latin typeface="Segoe UI Black" panose="020B0A02040204020203" pitchFamily="34" charset="0"/>
                <a:ea typeface="Segoe UI Black" panose="020B0A02040204020203" pitchFamily="34" charset="0"/>
              </a:rPr>
              <a:t>DATASET OVERVIEW</a:t>
            </a:r>
            <a:endParaRPr lang="en-US" sz="3600" dirty="0"/>
          </a:p>
        </p:txBody>
      </p:sp>
      <p:sp>
        <p:nvSpPr>
          <p:cNvPr id="5" name="Content Placeholder 4">
            <a:extLst>
              <a:ext uri="{FF2B5EF4-FFF2-40B4-BE49-F238E27FC236}">
                <a16:creationId xmlns:a16="http://schemas.microsoft.com/office/drawing/2014/main" id="{92CAA80B-711C-604B-DBFD-95121D2E9C09}"/>
              </a:ext>
            </a:extLst>
          </p:cNvPr>
          <p:cNvSpPr>
            <a:spLocks noGrp="1"/>
          </p:cNvSpPr>
          <p:nvPr>
            <p:ph idx="1"/>
          </p:nvPr>
        </p:nvSpPr>
        <p:spPr>
          <a:xfrm>
            <a:off x="838200" y="927652"/>
            <a:ext cx="10515600" cy="5249311"/>
          </a:xfrm>
        </p:spPr>
        <p:txBody>
          <a:bodyPr>
            <a:normAutofit/>
          </a:bodyPr>
          <a:lstStyle/>
          <a:p>
            <a:r>
              <a:rPr lang="en-US" dirty="0">
                <a:solidFill>
                  <a:srgbClr val="644C00"/>
                </a:solidFill>
                <a:latin typeface="Times New Roman" panose="02020603050405020304" pitchFamily="18" charset="0"/>
                <a:cs typeface="Times New Roman" panose="02020603050405020304" pitchFamily="18" charset="0"/>
              </a:rPr>
              <a:t>Sales Data Sheet ; It contains date of sale, Category (Cakes, Pastries, Chocolates, Snacks) and quantity sold.</a:t>
            </a:r>
          </a:p>
          <a:p>
            <a:pPr marL="0" indent="0">
              <a:buNone/>
            </a:pPr>
            <a:endParaRPr lang="en-US" dirty="0">
              <a:solidFill>
                <a:srgbClr val="644C00"/>
              </a:solidFill>
              <a:latin typeface="Times New Roman" panose="02020603050405020304" pitchFamily="18" charset="0"/>
              <a:cs typeface="Times New Roman" panose="02020603050405020304" pitchFamily="18" charset="0"/>
            </a:endParaRPr>
          </a:p>
          <a:p>
            <a:r>
              <a:rPr lang="en-US" dirty="0">
                <a:solidFill>
                  <a:srgbClr val="644C00"/>
                </a:solidFill>
                <a:latin typeface="Times New Roman" panose="02020603050405020304" pitchFamily="18" charset="0"/>
                <a:cs typeface="Times New Roman" panose="02020603050405020304" pitchFamily="18" charset="0"/>
              </a:rPr>
              <a:t>Product Data; it contains selling price (selling price per unit) stock available (units in stock) | supplier-_name.</a:t>
            </a:r>
          </a:p>
          <a:p>
            <a:endParaRPr lang="en-US" dirty="0">
              <a:solidFill>
                <a:srgbClr val="644C00"/>
              </a:solidFill>
              <a:latin typeface="Times New Roman" panose="02020603050405020304" pitchFamily="18" charset="0"/>
              <a:cs typeface="Times New Roman" panose="02020603050405020304" pitchFamily="18" charset="0"/>
            </a:endParaRPr>
          </a:p>
          <a:p>
            <a:r>
              <a:rPr lang="en-US" dirty="0">
                <a:solidFill>
                  <a:srgbClr val="644C00"/>
                </a:solidFill>
                <a:latin typeface="Times New Roman" panose="02020603050405020304" pitchFamily="18" charset="0"/>
                <a:cs typeface="Times New Roman" panose="02020603050405020304" pitchFamily="18" charset="0"/>
              </a:rPr>
              <a:t>Store Data’; it contains (unique store identifier) | store name (location name) region (Lagos, Abuja, kano, port Harcourt) | manager name.</a:t>
            </a:r>
          </a:p>
          <a:p>
            <a:endParaRPr lang="en-US" dirty="0">
              <a:solidFill>
                <a:srgbClr val="644C00"/>
              </a:solidFill>
              <a:latin typeface="Times New Roman" panose="02020603050405020304" pitchFamily="18" charset="0"/>
              <a:cs typeface="Times New Roman" panose="02020603050405020304" pitchFamily="18" charset="0"/>
            </a:endParaRPr>
          </a:p>
          <a:p>
            <a:pPr algn="just">
              <a:lnSpc>
                <a:spcPct val="100000"/>
              </a:lnSpc>
            </a:pPr>
            <a:r>
              <a:rPr lang="en-US" dirty="0">
                <a:solidFill>
                  <a:srgbClr val="644C00"/>
                </a:solidFill>
                <a:latin typeface="Times New Roman" panose="02020603050405020304" pitchFamily="18" charset="0"/>
                <a:cs typeface="Times New Roman" panose="02020603050405020304" pitchFamily="18" charset="0"/>
              </a:rPr>
              <a:t>Customer Data ; this table contains </a:t>
            </a:r>
            <a:r>
              <a:rPr lang="en-US" dirty="0" err="1">
                <a:solidFill>
                  <a:srgbClr val="644C00"/>
                </a:solidFill>
                <a:latin typeface="Times New Roman" panose="02020603050405020304" pitchFamily="18" charset="0"/>
                <a:cs typeface="Times New Roman" panose="02020603050405020304" pitchFamily="18" charset="0"/>
              </a:rPr>
              <a:t>customer_name</a:t>
            </a:r>
            <a:r>
              <a:rPr lang="en-US" dirty="0">
                <a:solidFill>
                  <a:srgbClr val="644C00"/>
                </a:solidFill>
                <a:latin typeface="Times New Roman" panose="02020603050405020304" pitchFamily="18" charset="0"/>
                <a:cs typeface="Times New Roman" panose="02020603050405020304" pitchFamily="18" charset="0"/>
              </a:rPr>
              <a:t>, </a:t>
            </a:r>
            <a:r>
              <a:rPr lang="en-US" dirty="0" err="1">
                <a:solidFill>
                  <a:srgbClr val="644C00"/>
                </a:solidFill>
                <a:latin typeface="Times New Roman" panose="02020603050405020304" pitchFamily="18" charset="0"/>
                <a:cs typeface="Times New Roman" panose="02020603050405020304" pitchFamily="18" charset="0"/>
              </a:rPr>
              <a:t>age_group</a:t>
            </a:r>
            <a:r>
              <a:rPr lang="en-US" dirty="0">
                <a:solidFill>
                  <a:srgbClr val="644C00"/>
                </a:solidFill>
                <a:latin typeface="Times New Roman" panose="02020603050405020304" pitchFamily="18" charset="0"/>
                <a:cs typeface="Times New Roman" panose="02020603050405020304" pitchFamily="18" charset="0"/>
              </a:rPr>
              <a:t>, gender ,</a:t>
            </a:r>
            <a:r>
              <a:rPr lang="en-US" dirty="0" err="1">
                <a:solidFill>
                  <a:srgbClr val="644C00"/>
                </a:solidFill>
                <a:latin typeface="Times New Roman" panose="02020603050405020304" pitchFamily="18" charset="0"/>
                <a:cs typeface="Times New Roman" panose="02020603050405020304" pitchFamily="18" charset="0"/>
              </a:rPr>
              <a:t>etc</a:t>
            </a:r>
            <a:r>
              <a:rPr lang="en-US" dirty="0">
                <a:solidFill>
                  <a:srgbClr val="644C00"/>
                </a:solidFill>
                <a:latin typeface="Times New Roman" panose="02020603050405020304" pitchFamily="18" charset="0"/>
                <a:cs typeface="Times New Roman" panose="02020603050405020304" pitchFamily="18" charset="0"/>
              </a:rPr>
              <a:t> (based on purchase history)</a:t>
            </a:r>
          </a:p>
          <a:p>
            <a:endParaRPr lang="en-US" dirty="0">
              <a:solidFill>
                <a:srgbClr val="644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5081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pattFill prst="pct5">
          <a:fgClr>
            <a:srgbClr val="FFE6B9"/>
          </a:fgClr>
          <a:bgClr>
            <a:schemeClr val="bg1"/>
          </a:bgClr>
        </a:patt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C63E67-7F68-39F2-2012-7D717181B122}"/>
              </a:ext>
            </a:extLst>
          </p:cNvPr>
          <p:cNvSpPr>
            <a:spLocks noGrp="1"/>
          </p:cNvSpPr>
          <p:nvPr>
            <p:ph type="title"/>
          </p:nvPr>
        </p:nvSpPr>
        <p:spPr>
          <a:xfrm>
            <a:off x="838200" y="1"/>
            <a:ext cx="10515600" cy="1690688"/>
          </a:xfrm>
        </p:spPr>
        <p:txBody>
          <a:bodyPr>
            <a:normAutofit fontScale="90000"/>
          </a:bodyPr>
          <a:lstStyle/>
          <a:p>
            <a:pPr algn="ctr"/>
            <a:r>
              <a:rPr lang="en-US" sz="4000" b="1" u="sng" dirty="0">
                <a:solidFill>
                  <a:srgbClr val="644C00"/>
                </a:solidFill>
                <a:latin typeface="Segoe UI Black" panose="020B0A02040204020203" pitchFamily="34" charset="0"/>
                <a:ea typeface="Segoe UI Black" panose="020B0A02040204020203" pitchFamily="34" charset="0"/>
              </a:rPr>
              <a:t>DATASET OVERVIEW</a:t>
            </a:r>
            <a:br>
              <a:rPr lang="en-US" b="0" dirty="0">
                <a:effectLst/>
              </a:rPr>
            </a:br>
            <a:br>
              <a:rPr lang="en-US" dirty="0"/>
            </a:br>
            <a:endParaRPr lang="en-US" dirty="0"/>
          </a:p>
        </p:txBody>
      </p:sp>
      <p:sp>
        <p:nvSpPr>
          <p:cNvPr id="5" name="Content Placeholder 4">
            <a:extLst>
              <a:ext uri="{FF2B5EF4-FFF2-40B4-BE49-F238E27FC236}">
                <a16:creationId xmlns:a16="http://schemas.microsoft.com/office/drawing/2014/main" id="{DE1EBD56-524B-8711-EFE9-FC01FC687031}"/>
              </a:ext>
            </a:extLst>
          </p:cNvPr>
          <p:cNvSpPr>
            <a:spLocks noGrp="1"/>
          </p:cNvSpPr>
          <p:nvPr>
            <p:ph idx="1"/>
          </p:nvPr>
        </p:nvSpPr>
        <p:spPr>
          <a:xfrm>
            <a:off x="838200" y="592310"/>
            <a:ext cx="10515600" cy="6265690"/>
          </a:xfrm>
        </p:spPr>
        <p:txBody>
          <a:bodyPr>
            <a:noAutofit/>
          </a:bodyPr>
          <a:lstStyle/>
          <a:p>
            <a:r>
              <a:rPr lang="en-US" b="1" dirty="0">
                <a:solidFill>
                  <a:srgbClr val="644C00"/>
                </a:solidFill>
                <a:latin typeface="Segoe UI Black" panose="020B0A02040204020203" pitchFamily="34" charset="0"/>
                <a:ea typeface="Segoe UI Black" panose="020B0A02040204020203" pitchFamily="34" charset="0"/>
              </a:rPr>
              <a:t>Sales Data Sheet;</a:t>
            </a:r>
          </a:p>
          <a:p>
            <a:pPr marL="0" indent="0">
              <a:buNone/>
            </a:pPr>
            <a:r>
              <a:rPr lang="en-US" dirty="0">
                <a:solidFill>
                  <a:srgbClr val="644C00"/>
                </a:solidFill>
              </a:rPr>
              <a:t>Columns</a:t>
            </a:r>
          </a:p>
          <a:p>
            <a:pPr marL="0" indent="0">
              <a:buNone/>
            </a:pPr>
            <a:r>
              <a:rPr lang="en-US" dirty="0">
                <a:solidFill>
                  <a:srgbClr val="644C00"/>
                </a:solidFill>
              </a:rPr>
              <a:t>• Transaction _ID (Unique ID for each sale) </a:t>
            </a:r>
            <a:r>
              <a:rPr lang="en-US" dirty="0" err="1">
                <a:solidFill>
                  <a:srgbClr val="644C00"/>
                </a:solidFill>
              </a:rPr>
              <a:t>etc</a:t>
            </a:r>
            <a:endParaRPr lang="en-US" dirty="0"/>
          </a:p>
          <a:p>
            <a:r>
              <a:rPr lang="en-US" b="1" dirty="0">
                <a:solidFill>
                  <a:srgbClr val="644C00"/>
                </a:solidFill>
              </a:rPr>
              <a:t>Product Data</a:t>
            </a:r>
          </a:p>
          <a:p>
            <a:pPr marL="0" indent="0">
              <a:buNone/>
            </a:pPr>
            <a:r>
              <a:rPr lang="en-US" dirty="0">
                <a:solidFill>
                  <a:srgbClr val="644C00"/>
                </a:solidFill>
                <a:latin typeface="Times New Roman" panose="02020603050405020304" pitchFamily="18" charset="0"/>
                <a:cs typeface="Times New Roman" panose="02020603050405020304" pitchFamily="18" charset="0"/>
              </a:rPr>
              <a:t>Columns</a:t>
            </a:r>
          </a:p>
          <a:p>
            <a:pPr marL="0" indent="0">
              <a:buNone/>
            </a:pPr>
            <a:r>
              <a:rPr lang="en-US" dirty="0">
                <a:solidFill>
                  <a:srgbClr val="644C00"/>
                </a:solidFill>
                <a:latin typeface="Times New Roman" panose="02020603050405020304" pitchFamily="18" charset="0"/>
                <a:cs typeface="Times New Roman" panose="02020603050405020304" pitchFamily="18" charset="0"/>
              </a:rPr>
              <a:t>Product _id (unique id) | product_ name (product name)</a:t>
            </a:r>
            <a:r>
              <a:rPr lang="en-US" dirty="0" err="1">
                <a:solidFill>
                  <a:srgbClr val="644C00"/>
                </a:solidFill>
                <a:latin typeface="Times New Roman" panose="02020603050405020304" pitchFamily="18" charset="0"/>
                <a:cs typeface="Times New Roman" panose="02020603050405020304" pitchFamily="18" charset="0"/>
              </a:rPr>
              <a:t>etc</a:t>
            </a:r>
            <a:endParaRPr lang="en-US" dirty="0">
              <a:solidFill>
                <a:srgbClr val="644C00"/>
              </a:solidFill>
              <a:latin typeface="Times New Roman" panose="02020603050405020304" pitchFamily="18" charset="0"/>
              <a:cs typeface="Times New Roman" panose="02020603050405020304" pitchFamily="18" charset="0"/>
            </a:endParaRPr>
          </a:p>
          <a:p>
            <a:pPr marL="0" indent="0">
              <a:buNone/>
            </a:pPr>
            <a:r>
              <a:rPr lang="en-US" b="1" dirty="0">
                <a:solidFill>
                  <a:srgbClr val="644C00"/>
                </a:solidFill>
              </a:rPr>
              <a:t> Store data;</a:t>
            </a:r>
          </a:p>
          <a:p>
            <a:pPr marL="0" indent="0">
              <a:buNone/>
            </a:pPr>
            <a:r>
              <a:rPr lang="en-US" dirty="0">
                <a:solidFill>
                  <a:srgbClr val="644C00"/>
                </a:solidFill>
                <a:latin typeface="Times New Roman" panose="02020603050405020304" pitchFamily="18" charset="0"/>
                <a:ea typeface="Segoe UI Black" panose="020B0A02040204020203" pitchFamily="34" charset="0"/>
                <a:cs typeface="Times New Roman" panose="02020603050405020304" pitchFamily="18" charset="0"/>
              </a:rPr>
              <a:t>Columns</a:t>
            </a:r>
          </a:p>
          <a:p>
            <a:pPr marL="0" indent="0">
              <a:buNone/>
            </a:pPr>
            <a:r>
              <a:rPr lang="en-US" b="1" dirty="0">
                <a:solidFill>
                  <a:srgbClr val="644C00"/>
                </a:solidFill>
              </a:rPr>
              <a:t>• </a:t>
            </a:r>
            <a:r>
              <a:rPr lang="en-US" dirty="0">
                <a:solidFill>
                  <a:srgbClr val="644C00"/>
                </a:solidFill>
              </a:rPr>
              <a:t>Store _ID (Unique store identifier) | Store Name (Location Name) </a:t>
            </a:r>
            <a:r>
              <a:rPr lang="en-US" dirty="0" err="1">
                <a:solidFill>
                  <a:srgbClr val="644C00"/>
                </a:solidFill>
              </a:rPr>
              <a:t>etc</a:t>
            </a:r>
            <a:endParaRPr lang="en-US" dirty="0">
              <a:solidFill>
                <a:srgbClr val="644C00"/>
              </a:solidFill>
            </a:endParaRPr>
          </a:p>
          <a:p>
            <a:pPr marL="0" indent="0">
              <a:buNone/>
            </a:pPr>
            <a:r>
              <a:rPr lang="en-US" b="1" dirty="0">
                <a:solidFill>
                  <a:srgbClr val="644C00"/>
                </a:solidFill>
              </a:rPr>
              <a:t>Customer Data</a:t>
            </a:r>
          </a:p>
          <a:p>
            <a:pPr marL="0" indent="0">
              <a:buNone/>
            </a:pPr>
            <a:r>
              <a:rPr lang="en-US" dirty="0">
                <a:solidFill>
                  <a:srgbClr val="644C00"/>
                </a:solidFill>
              </a:rPr>
              <a:t>Columns</a:t>
            </a:r>
          </a:p>
          <a:p>
            <a:pPr marL="0" indent="0">
              <a:buNone/>
            </a:pPr>
            <a:r>
              <a:rPr lang="en-US" dirty="0">
                <a:solidFill>
                  <a:srgbClr val="644C00"/>
                </a:solidFill>
              </a:rPr>
              <a:t>• Customer-ID (Unique identifier) | Customer_ Name</a:t>
            </a:r>
          </a:p>
        </p:txBody>
      </p:sp>
    </p:spTree>
    <p:extLst>
      <p:ext uri="{BB962C8B-B14F-4D97-AF65-F5344CB8AC3E}">
        <p14:creationId xmlns:p14="http://schemas.microsoft.com/office/powerpoint/2010/main" val="947120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BCD37-2FF0-F22A-086D-37CA8C02A642}"/>
              </a:ext>
            </a:extLst>
          </p:cNvPr>
          <p:cNvSpPr>
            <a:spLocks noGrp="1"/>
          </p:cNvSpPr>
          <p:nvPr>
            <p:ph type="title"/>
          </p:nvPr>
        </p:nvSpPr>
        <p:spPr>
          <a:xfrm>
            <a:off x="838200" y="0"/>
            <a:ext cx="10515600" cy="1696277"/>
          </a:xfrm>
        </p:spPr>
        <p:txBody>
          <a:bodyPr>
            <a:noAutofit/>
          </a:bodyPr>
          <a:lstStyle/>
          <a:p>
            <a:pPr algn="ctr"/>
            <a:r>
              <a:rPr lang="en-US" sz="3200" b="1" u="sng" dirty="0">
                <a:solidFill>
                  <a:srgbClr val="644C00"/>
                </a:solidFill>
                <a:latin typeface="Segoe UI Black" panose="020B0A02040204020203" pitchFamily="34" charset="0"/>
                <a:ea typeface="Segoe UI Black" panose="020B0A02040204020203" pitchFamily="34" charset="0"/>
              </a:rPr>
              <a:t>DATA CLEANING &amp; PREPARATION</a:t>
            </a:r>
            <a:br>
              <a:rPr lang="en-US" sz="3600" b="0" dirty="0">
                <a:solidFill>
                  <a:srgbClr val="644C00"/>
                </a:solidFill>
                <a:effectLst/>
                <a:latin typeface="Segoe UI Black" panose="020B0A02040204020203" pitchFamily="34" charset="0"/>
                <a:ea typeface="Segoe UI Black" panose="020B0A02040204020203" pitchFamily="34" charset="0"/>
              </a:rPr>
            </a:br>
            <a:br>
              <a:rPr lang="en-US" sz="3600" dirty="0">
                <a:solidFill>
                  <a:srgbClr val="644C00"/>
                </a:solidFill>
                <a:latin typeface="Segoe UI Black" panose="020B0A02040204020203" pitchFamily="34" charset="0"/>
                <a:ea typeface="Segoe UI Black" panose="020B0A02040204020203" pitchFamily="34" charset="0"/>
              </a:rPr>
            </a:br>
            <a:endParaRPr lang="en-US" sz="3600" dirty="0">
              <a:solidFill>
                <a:srgbClr val="644C00"/>
              </a:solidFill>
              <a:latin typeface="Segoe UI Black" panose="020B0A02040204020203" pitchFamily="34" charset="0"/>
              <a:ea typeface="Segoe UI Black" panose="020B0A02040204020203" pitchFamily="34" charset="0"/>
            </a:endParaRPr>
          </a:p>
        </p:txBody>
      </p:sp>
      <p:sp>
        <p:nvSpPr>
          <p:cNvPr id="3" name="Content Placeholder 2">
            <a:extLst>
              <a:ext uri="{FF2B5EF4-FFF2-40B4-BE49-F238E27FC236}">
                <a16:creationId xmlns:a16="http://schemas.microsoft.com/office/drawing/2014/main" id="{CAA4F603-0658-6B1D-B463-CC476F64284E}"/>
              </a:ext>
            </a:extLst>
          </p:cNvPr>
          <p:cNvSpPr>
            <a:spLocks noGrp="1"/>
          </p:cNvSpPr>
          <p:nvPr>
            <p:ph idx="1"/>
          </p:nvPr>
        </p:nvSpPr>
        <p:spPr>
          <a:xfrm>
            <a:off x="838200" y="1272208"/>
            <a:ext cx="10515600" cy="4904755"/>
          </a:xfrm>
          <a:ln>
            <a:solidFill>
              <a:srgbClr val="644C00">
                <a:alpha val="0"/>
              </a:srgbClr>
            </a:solidFill>
          </a:ln>
        </p:spPr>
        <p:txBody>
          <a:bodyPr>
            <a:normAutofit fontScale="92500" lnSpcReduction="20000"/>
          </a:bodyPr>
          <a:lstStyle/>
          <a:p>
            <a:r>
              <a:rPr lang="en-US" sz="3000" b="1" dirty="0">
                <a:solidFill>
                  <a:srgbClr val="644C00"/>
                </a:solidFill>
                <a:latin typeface="Segoe UI Black" panose="020B0A02040204020203" pitchFamily="34" charset="0"/>
                <a:ea typeface="Segoe UI Black" panose="020B0A02040204020203" pitchFamily="34" charset="0"/>
              </a:rPr>
              <a:t>Steps Taken to prepare the data for analysis:</a:t>
            </a:r>
            <a:br>
              <a:rPr lang="en-US" sz="3000" b="1" dirty="0">
                <a:solidFill>
                  <a:srgbClr val="644C00"/>
                </a:solidFill>
                <a:effectLst/>
                <a:latin typeface="Segoe UI Black" panose="020B0A02040204020203" pitchFamily="34" charset="0"/>
                <a:ea typeface="Segoe UI Black" panose="020B0A02040204020203" pitchFamily="34" charset="0"/>
              </a:rPr>
            </a:br>
            <a:endParaRPr lang="en-US" sz="3000" b="1" dirty="0">
              <a:solidFill>
                <a:srgbClr val="644C00"/>
              </a:solidFill>
              <a:effectLst/>
              <a:latin typeface="Segoe UI Black" panose="020B0A02040204020203" pitchFamily="34" charset="0"/>
              <a:ea typeface="Segoe UI Black" panose="020B0A02040204020203" pitchFamily="34" charset="0"/>
            </a:endParaRPr>
          </a:p>
          <a:p>
            <a:r>
              <a:rPr lang="en-US" sz="3000" dirty="0">
                <a:solidFill>
                  <a:srgbClr val="644C00"/>
                </a:solidFill>
                <a:latin typeface="Times New Roman" panose="02020603050405020304" pitchFamily="18" charset="0"/>
                <a:cs typeface="Times New Roman" panose="02020603050405020304" pitchFamily="18" charset="0"/>
              </a:rPr>
              <a:t>Removed duplicates and handled missing values.</a:t>
            </a:r>
          </a:p>
          <a:p>
            <a:endParaRPr lang="en-US" sz="3000" dirty="0">
              <a:solidFill>
                <a:srgbClr val="644C00"/>
              </a:solidFill>
              <a:latin typeface="Times New Roman" panose="02020603050405020304" pitchFamily="18" charset="0"/>
              <a:cs typeface="Times New Roman" panose="02020603050405020304" pitchFamily="18" charset="0"/>
            </a:endParaRPr>
          </a:p>
          <a:p>
            <a:pPr marL="0" indent="0">
              <a:buNone/>
            </a:pPr>
            <a:r>
              <a:rPr lang="en-US" sz="3000" dirty="0">
                <a:solidFill>
                  <a:srgbClr val="644C00"/>
                </a:solidFill>
                <a:latin typeface="Times New Roman" panose="02020603050405020304" pitchFamily="18" charset="0"/>
                <a:cs typeface="Times New Roman" panose="02020603050405020304" pitchFamily="18" charset="0"/>
              </a:rPr>
              <a:t>• Standardized column names and data types.</a:t>
            </a:r>
          </a:p>
          <a:p>
            <a:pPr marL="0" indent="0">
              <a:buNone/>
            </a:pPr>
            <a:endParaRPr lang="en-US" sz="3000" b="0" dirty="0">
              <a:solidFill>
                <a:srgbClr val="644C00"/>
              </a:solidFill>
              <a:effectLst/>
              <a:latin typeface="Times New Roman" panose="02020603050405020304" pitchFamily="18" charset="0"/>
              <a:cs typeface="Times New Roman" panose="02020603050405020304" pitchFamily="18" charset="0"/>
            </a:endParaRPr>
          </a:p>
          <a:p>
            <a:pPr marL="0" indent="0">
              <a:buNone/>
            </a:pPr>
            <a:r>
              <a:rPr lang="en-US" sz="3000" dirty="0">
                <a:solidFill>
                  <a:srgbClr val="644C00"/>
                </a:solidFill>
                <a:latin typeface="Times New Roman" panose="02020603050405020304" pitchFamily="18" charset="0"/>
                <a:cs typeface="Times New Roman" panose="02020603050405020304" pitchFamily="18" charset="0"/>
              </a:rPr>
              <a:t>• Ensured date formats and numeric consistency</a:t>
            </a:r>
            <a:r>
              <a:rPr lang="en-US" sz="3000" dirty="0">
                <a:solidFill>
                  <a:srgbClr val="644C00"/>
                </a:solidFill>
              </a:rPr>
              <a:t>.</a:t>
            </a:r>
          </a:p>
          <a:p>
            <a:pPr marL="0" indent="0">
              <a:buNone/>
            </a:pPr>
            <a:br>
              <a:rPr lang="en-US" sz="3000" b="0" dirty="0">
                <a:solidFill>
                  <a:srgbClr val="644C00"/>
                </a:solidFill>
                <a:effectLst/>
              </a:rPr>
            </a:br>
            <a:endParaRPr lang="en-US" sz="3000" b="0" dirty="0">
              <a:solidFill>
                <a:srgbClr val="644C00"/>
              </a:solidFill>
              <a:effectLst/>
            </a:endParaRPr>
          </a:p>
          <a:p>
            <a:r>
              <a:rPr lang="en-US" sz="3000" b="1" dirty="0">
                <a:solidFill>
                  <a:srgbClr val="644C00"/>
                </a:solidFill>
              </a:rPr>
              <a:t>Tools Used: Power Query in Power BI.</a:t>
            </a:r>
            <a:endParaRPr lang="en-US" sz="3000" b="0" dirty="0">
              <a:solidFill>
                <a:srgbClr val="644C00"/>
              </a:solidFill>
              <a:effectLst/>
            </a:endParaRPr>
          </a:p>
          <a:p>
            <a:pPr marL="0" indent="0">
              <a:buNone/>
            </a:pPr>
            <a:br>
              <a:rPr lang="en-US" dirty="0"/>
            </a:br>
            <a:endParaRPr lang="en-US" dirty="0"/>
          </a:p>
        </p:txBody>
      </p:sp>
    </p:spTree>
    <p:extLst>
      <p:ext uri="{BB962C8B-B14F-4D97-AF65-F5344CB8AC3E}">
        <p14:creationId xmlns:p14="http://schemas.microsoft.com/office/powerpoint/2010/main" val="544519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7660A8-69CA-0145-B3DB-6542860FEC14}"/>
              </a:ext>
            </a:extLst>
          </p:cNvPr>
          <p:cNvSpPr>
            <a:spLocks noGrp="1"/>
          </p:cNvSpPr>
          <p:nvPr>
            <p:ph type="title"/>
          </p:nvPr>
        </p:nvSpPr>
        <p:spPr>
          <a:xfrm>
            <a:off x="838200" y="1"/>
            <a:ext cx="10515600" cy="1537252"/>
          </a:xfrm>
        </p:spPr>
        <p:txBody>
          <a:bodyPr>
            <a:normAutofit/>
          </a:bodyPr>
          <a:lstStyle/>
          <a:p>
            <a:pPr algn="ctr"/>
            <a:r>
              <a:rPr lang="en-US" sz="2800" b="1" dirty="0">
                <a:solidFill>
                  <a:srgbClr val="644C00"/>
                </a:solidFill>
                <a:latin typeface="Segoe UI Black" panose="020B0A02040204020203" pitchFamily="34" charset="0"/>
                <a:ea typeface="Segoe UI Black" panose="020B0A02040204020203" pitchFamily="34" charset="0"/>
              </a:rPr>
              <a:t>KEY METRICS - KPI MEASURED</a:t>
            </a:r>
            <a:br>
              <a:rPr lang="en-US" sz="2800" b="1" dirty="0">
                <a:solidFill>
                  <a:srgbClr val="644C00"/>
                </a:solidFill>
                <a:effectLst/>
                <a:latin typeface="Segoe UI Black" panose="020B0A02040204020203" pitchFamily="34" charset="0"/>
                <a:ea typeface="Segoe UI Black" panose="020B0A02040204020203" pitchFamily="34" charset="0"/>
              </a:rPr>
            </a:br>
            <a:r>
              <a:rPr lang="en-US" sz="3100" dirty="0">
                <a:solidFill>
                  <a:srgbClr val="644C00"/>
                </a:solidFill>
                <a:effectLst/>
                <a:latin typeface="Times New Roman" panose="02020603050405020304" pitchFamily="18" charset="0"/>
                <a:ea typeface="Segoe UI Black" panose="020B0A02040204020203" pitchFamily="34" charset="0"/>
                <a:cs typeface="Times New Roman" panose="02020603050405020304" pitchFamily="18" charset="0"/>
              </a:rPr>
              <a:t>T</a:t>
            </a:r>
            <a:r>
              <a:rPr lang="en-US" sz="3100" b="1" dirty="0">
                <a:solidFill>
                  <a:srgbClr val="644C00"/>
                </a:solidFill>
              </a:rPr>
              <a:t>he</a:t>
            </a:r>
            <a:r>
              <a:rPr lang="en-US" sz="3100" dirty="0">
                <a:solidFill>
                  <a:srgbClr val="644C00"/>
                </a:solidFill>
              </a:rPr>
              <a:t> following are key metrics to evaluate</a:t>
            </a:r>
            <a:r>
              <a:rPr lang="en-US" sz="2800" dirty="0">
                <a:solidFill>
                  <a:srgbClr val="644C00"/>
                </a:solidFill>
                <a:latin typeface="Segoe UI Black" panose="020B0A02040204020203" pitchFamily="34" charset="0"/>
                <a:ea typeface="Segoe UI Black" panose="020B0A02040204020203" pitchFamily="34" charset="0"/>
              </a:rPr>
              <a:t> </a:t>
            </a:r>
            <a:r>
              <a:rPr lang="en-US" sz="2800" dirty="0">
                <a:solidFill>
                  <a:srgbClr val="644C00"/>
                </a:solidFill>
                <a:latin typeface="Times New Roman" panose="02020603050405020304" pitchFamily="18" charset="0"/>
                <a:ea typeface="Segoe UI Black" panose="020B0A02040204020203" pitchFamily="34" charset="0"/>
                <a:cs typeface="Times New Roman" panose="02020603050405020304" pitchFamily="18" charset="0"/>
              </a:rPr>
              <a:t>Elite Crust Bakery</a:t>
            </a:r>
            <a:endParaRPr lang="en-US" sz="2800" b="1" dirty="0">
              <a:solidFill>
                <a:srgbClr val="644C00"/>
              </a:solidFill>
              <a:latin typeface="Times New Roman" panose="02020603050405020304" pitchFamily="18" charset="0"/>
              <a:ea typeface="Segoe UI Black" panose="020B0A02040204020203" pitchFamily="34" charset="0"/>
              <a:cs typeface="Times New Roman" panose="02020603050405020304" pitchFamily="18" charset="0"/>
            </a:endParaRPr>
          </a:p>
        </p:txBody>
      </p:sp>
      <p:sp>
        <p:nvSpPr>
          <p:cNvPr id="6" name="Rectangle 1">
            <a:extLst>
              <a:ext uri="{FF2B5EF4-FFF2-40B4-BE49-F238E27FC236}">
                <a16:creationId xmlns:a16="http://schemas.microsoft.com/office/drawing/2014/main" id="{1B0FF669-4DB2-2D93-C713-BC5497571A08}"/>
              </a:ext>
            </a:extLst>
          </p:cNvPr>
          <p:cNvSpPr>
            <a:spLocks noGrp="1" noChangeArrowheads="1"/>
          </p:cNvSpPr>
          <p:nvPr>
            <p:ph idx="1"/>
          </p:nvPr>
        </p:nvSpPr>
        <p:spPr bwMode="auto">
          <a:xfrm>
            <a:off x="838200" y="1923802"/>
            <a:ext cx="10515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rgbClr val="644C00"/>
                </a:solidFill>
                <a:effectLst/>
                <a:latin typeface="Times New Roman" panose="02020603050405020304" pitchFamily="18" charset="0"/>
                <a:cs typeface="Times New Roman" panose="02020603050405020304" pitchFamily="18" charset="0"/>
              </a:rPr>
              <a:t>Total Revenue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rgbClr val="644C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644C00"/>
                </a:solidFill>
                <a:effectLst/>
                <a:latin typeface="Times New Roman" panose="02020603050405020304" pitchFamily="18" charset="0"/>
                <a:cs typeface="Times New Roman" panose="02020603050405020304" pitchFamily="18" charset="0"/>
              </a:rPr>
              <a:t>Total Profit</a:t>
            </a:r>
            <a:r>
              <a:rPr kumimoji="0" lang="en-US" altLang="en-US" sz="2400" b="0" i="0" u="none" strike="noStrike" cap="none" normalizeH="0" baseline="0" dirty="0">
                <a:ln>
                  <a:noFill/>
                </a:ln>
                <a:solidFill>
                  <a:srgbClr val="644C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rgbClr val="644C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644C00"/>
                </a:solidFill>
                <a:effectLst/>
                <a:latin typeface="Times New Roman" panose="02020603050405020304" pitchFamily="18" charset="0"/>
                <a:cs typeface="Times New Roman" panose="02020603050405020304" pitchFamily="18" charset="0"/>
              </a:rPr>
              <a:t>Profit Margin</a:t>
            </a:r>
            <a:r>
              <a:rPr kumimoji="0" lang="en-US" altLang="en-US" sz="2400" b="0" i="0" u="none" strike="noStrike" cap="none" normalizeH="0" baseline="0" dirty="0">
                <a:ln>
                  <a:noFill/>
                </a:ln>
                <a:solidFill>
                  <a:srgbClr val="644C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rgbClr val="644C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644C00"/>
                </a:solidFill>
                <a:effectLst/>
                <a:latin typeface="Times New Roman" panose="02020603050405020304" pitchFamily="18" charset="0"/>
                <a:cs typeface="Times New Roman" panose="02020603050405020304" pitchFamily="18" charset="0"/>
              </a:rPr>
              <a:t>Total Customers</a:t>
            </a:r>
            <a:r>
              <a:rPr kumimoji="0" lang="en-US" altLang="en-US" sz="2400" b="0" i="0" u="none" strike="noStrike" cap="none" normalizeH="0" baseline="0" dirty="0">
                <a:ln>
                  <a:noFill/>
                </a:ln>
                <a:solidFill>
                  <a:srgbClr val="644C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rgbClr val="644C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644C00"/>
                </a:solidFill>
                <a:effectLst/>
                <a:latin typeface="Times New Roman" panose="02020603050405020304" pitchFamily="18" charset="0"/>
                <a:cs typeface="Times New Roman" panose="02020603050405020304" pitchFamily="18" charset="0"/>
              </a:rPr>
              <a:t>Total Units Sold</a:t>
            </a:r>
            <a:r>
              <a:rPr kumimoji="0" lang="en-US" altLang="en-US" sz="2400" b="0" i="0" u="none" strike="noStrike" cap="none" normalizeH="0" baseline="0" dirty="0">
                <a:ln>
                  <a:noFill/>
                </a:ln>
                <a:solidFill>
                  <a:srgbClr val="644C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dirty="0">
              <a:solidFill>
                <a:srgbClr val="644C0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644C00"/>
                </a:solidFill>
                <a:effectLst/>
                <a:latin typeface="Times New Roman" panose="02020603050405020304" pitchFamily="18" charset="0"/>
                <a:cs typeface="Times New Roman" panose="02020603050405020304" pitchFamily="18" charset="0"/>
              </a:rPr>
              <a:t>Average Order Value (AOV)</a:t>
            </a:r>
            <a:r>
              <a:rPr kumimoji="0" lang="en-US" altLang="en-US" sz="2400" b="0" i="0" u="none" strike="noStrike" cap="none" normalizeH="0" baseline="0" dirty="0">
                <a:ln>
                  <a:noFill/>
                </a:ln>
                <a:solidFill>
                  <a:srgbClr val="644C00"/>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83534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1AF74-C184-5319-7596-9FB9489D34CF}"/>
              </a:ext>
            </a:extLst>
          </p:cNvPr>
          <p:cNvSpPr>
            <a:spLocks noGrp="1"/>
          </p:cNvSpPr>
          <p:nvPr>
            <p:ph type="title"/>
          </p:nvPr>
        </p:nvSpPr>
        <p:spPr>
          <a:xfrm>
            <a:off x="838200" y="172279"/>
            <a:ext cx="10515600" cy="1842052"/>
          </a:xfrm>
        </p:spPr>
        <p:txBody>
          <a:bodyPr>
            <a:normAutofit/>
          </a:bodyPr>
          <a:lstStyle/>
          <a:p>
            <a:pPr algn="ctr"/>
            <a:r>
              <a:rPr lang="en-US" sz="3200" dirty="0">
                <a:solidFill>
                  <a:srgbClr val="644C00"/>
                </a:solidFill>
                <a:latin typeface="Segoe UI Black" panose="020B0A02040204020203" pitchFamily="34" charset="0"/>
                <a:ea typeface="Segoe UI Black" panose="020B0A02040204020203" pitchFamily="34" charset="0"/>
              </a:rPr>
              <a:t>METHODOLOGY AND ANALYSIS</a:t>
            </a:r>
            <a:br>
              <a:rPr lang="en-US" b="0" dirty="0">
                <a:effectLst/>
              </a:rPr>
            </a:br>
            <a:br>
              <a:rPr lang="en-US" dirty="0"/>
            </a:br>
            <a:endParaRPr lang="en-US" dirty="0"/>
          </a:p>
        </p:txBody>
      </p:sp>
      <p:sp>
        <p:nvSpPr>
          <p:cNvPr id="4" name="Content Placeholder 3">
            <a:extLst>
              <a:ext uri="{FF2B5EF4-FFF2-40B4-BE49-F238E27FC236}">
                <a16:creationId xmlns:a16="http://schemas.microsoft.com/office/drawing/2014/main" id="{6625A7EC-D953-6645-26CA-E9643E71F6EE}"/>
              </a:ext>
            </a:extLst>
          </p:cNvPr>
          <p:cNvSpPr>
            <a:spLocks noGrp="1"/>
          </p:cNvSpPr>
          <p:nvPr>
            <p:ph idx="1"/>
          </p:nvPr>
        </p:nvSpPr>
        <p:spPr>
          <a:xfrm>
            <a:off x="838200" y="1245704"/>
            <a:ext cx="10515600" cy="4931259"/>
          </a:xfrm>
        </p:spPr>
        <p:txBody>
          <a:bodyPr>
            <a:normAutofit/>
          </a:bodyPr>
          <a:lstStyle/>
          <a:p>
            <a:r>
              <a:rPr lang="en-US" b="1" dirty="0">
                <a:solidFill>
                  <a:srgbClr val="644C00"/>
                </a:solidFill>
                <a:latin typeface="Times New Roman" panose="02020603050405020304" pitchFamily="18" charset="0"/>
                <a:cs typeface="Times New Roman" panose="02020603050405020304" pitchFamily="18" charset="0"/>
              </a:rPr>
              <a:t>Methodology:</a:t>
            </a:r>
            <a:r>
              <a:rPr lang="en-US" dirty="0">
                <a:solidFill>
                  <a:srgbClr val="644C00"/>
                </a:solidFill>
                <a:latin typeface="Times New Roman" panose="02020603050405020304" pitchFamily="18" charset="0"/>
                <a:cs typeface="Times New Roman" panose="02020603050405020304" pitchFamily="18" charset="0"/>
              </a:rPr>
              <a:t> Data analysis using Power BI,</a:t>
            </a:r>
          </a:p>
          <a:p>
            <a:r>
              <a:rPr lang="en-US" dirty="0">
                <a:solidFill>
                  <a:srgbClr val="644C00"/>
                </a:solidFill>
                <a:latin typeface="Times New Roman" panose="02020603050405020304" pitchFamily="18" charset="0"/>
                <a:cs typeface="Times New Roman" panose="02020603050405020304" pitchFamily="18" charset="0"/>
              </a:rPr>
              <a:t> filtering by key variables, and </a:t>
            </a:r>
          </a:p>
          <a:p>
            <a:r>
              <a:rPr lang="en-US" dirty="0">
                <a:solidFill>
                  <a:srgbClr val="644C00"/>
                </a:solidFill>
                <a:latin typeface="Times New Roman" panose="02020603050405020304" pitchFamily="18" charset="0"/>
                <a:cs typeface="Times New Roman" panose="02020603050405020304" pitchFamily="18" charset="0"/>
              </a:rPr>
              <a:t>comparing performance across regions, stores, products, and customers.</a:t>
            </a:r>
          </a:p>
          <a:p>
            <a:endParaRPr lang="en-US" dirty="0">
              <a:solidFill>
                <a:srgbClr val="644C00"/>
              </a:solidFill>
              <a:latin typeface="Times New Roman" panose="02020603050405020304" pitchFamily="18" charset="0"/>
              <a:cs typeface="Times New Roman" panose="02020603050405020304" pitchFamily="18" charset="0"/>
            </a:endParaRPr>
          </a:p>
          <a:p>
            <a:r>
              <a:rPr lang="en-US" b="1" dirty="0">
                <a:solidFill>
                  <a:srgbClr val="644C00"/>
                </a:solidFill>
                <a:latin typeface="Times New Roman" panose="02020603050405020304" pitchFamily="18" charset="0"/>
                <a:cs typeface="Times New Roman" panose="02020603050405020304" pitchFamily="18" charset="0"/>
              </a:rPr>
              <a:t>Analysis:</a:t>
            </a:r>
            <a:r>
              <a:rPr lang="en-US" dirty="0">
                <a:solidFill>
                  <a:srgbClr val="644C00"/>
                </a:solidFill>
                <a:latin typeface="Times New Roman" panose="02020603050405020304" pitchFamily="18" charset="0"/>
                <a:cs typeface="Times New Roman" panose="02020603050405020304" pitchFamily="18" charset="0"/>
              </a:rPr>
              <a:t> Identified sales trends, regional gaps,</a:t>
            </a:r>
          </a:p>
          <a:p>
            <a:r>
              <a:rPr lang="en-US" dirty="0">
                <a:solidFill>
                  <a:srgbClr val="644C00"/>
                </a:solidFill>
                <a:latin typeface="Times New Roman" panose="02020603050405020304" pitchFamily="18" charset="0"/>
                <a:cs typeface="Times New Roman" panose="02020603050405020304" pitchFamily="18" charset="0"/>
              </a:rPr>
              <a:t> product profitability issues, </a:t>
            </a:r>
          </a:p>
          <a:p>
            <a:r>
              <a:rPr lang="en-US" dirty="0">
                <a:solidFill>
                  <a:srgbClr val="644C00"/>
                </a:solidFill>
                <a:latin typeface="Times New Roman" panose="02020603050405020304" pitchFamily="18" charset="0"/>
                <a:cs typeface="Times New Roman" panose="02020603050405020304" pitchFamily="18" charset="0"/>
              </a:rPr>
              <a:t>store performance differences, and</a:t>
            </a:r>
          </a:p>
          <a:p>
            <a:r>
              <a:rPr lang="en-US" dirty="0">
                <a:solidFill>
                  <a:srgbClr val="644C00"/>
                </a:solidFill>
                <a:latin typeface="Times New Roman" panose="02020603050405020304" pitchFamily="18" charset="0"/>
                <a:cs typeface="Times New Roman" panose="02020603050405020304" pitchFamily="18" charset="0"/>
              </a:rPr>
              <a:t> customer behavior patterns.</a:t>
            </a:r>
          </a:p>
          <a:p>
            <a:endParaRPr lang="en-US" dirty="0"/>
          </a:p>
        </p:txBody>
      </p:sp>
    </p:spTree>
    <p:extLst>
      <p:ext uri="{BB962C8B-B14F-4D97-AF65-F5344CB8AC3E}">
        <p14:creationId xmlns:p14="http://schemas.microsoft.com/office/powerpoint/2010/main" val="2690359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308DB2-75C3-953C-5D7F-4222C98821F5}"/>
              </a:ext>
            </a:extLst>
          </p:cNvPr>
          <p:cNvSpPr>
            <a:spLocks noGrp="1"/>
          </p:cNvSpPr>
          <p:nvPr>
            <p:ph type="title" idx="4294967295"/>
          </p:nvPr>
        </p:nvSpPr>
        <p:spPr>
          <a:xfrm>
            <a:off x="0" y="-1"/>
            <a:ext cx="12192000" cy="1934817"/>
          </a:xfrm>
        </p:spPr>
        <p:txBody>
          <a:bodyPr>
            <a:normAutofit/>
          </a:bodyPr>
          <a:lstStyle/>
          <a:p>
            <a:pPr algn="ctr"/>
            <a:r>
              <a:rPr lang="en-US" b="1" dirty="0"/>
              <a:t> </a:t>
            </a:r>
            <a:r>
              <a:rPr lang="en-US" sz="3600" dirty="0">
                <a:solidFill>
                  <a:srgbClr val="644C00"/>
                </a:solidFill>
                <a:latin typeface="Segoe UI Black" panose="020B0A02040204020203" pitchFamily="34" charset="0"/>
                <a:ea typeface="Segoe UI Black" panose="020B0A02040204020203" pitchFamily="34" charset="0"/>
              </a:rPr>
              <a:t>Elite Crust Bakery </a:t>
            </a:r>
            <a:r>
              <a:rPr lang="en-US" sz="3600" b="1" dirty="0">
                <a:solidFill>
                  <a:srgbClr val="644C00"/>
                </a:solidFill>
                <a:latin typeface="Segoe UI Black" panose="020B0A02040204020203" pitchFamily="34" charset="0"/>
                <a:ea typeface="Segoe UI Black" panose="020B0A02040204020203" pitchFamily="34" charset="0"/>
              </a:rPr>
              <a:t>DASHBOARD </a:t>
            </a:r>
            <a:br>
              <a:rPr lang="en-US" b="0" dirty="0">
                <a:effectLst/>
              </a:rPr>
            </a:br>
            <a:br>
              <a:rPr lang="en-US" dirty="0"/>
            </a:br>
            <a:endParaRPr lang="en-US" dirty="0"/>
          </a:p>
        </p:txBody>
      </p:sp>
      <p:pic>
        <p:nvPicPr>
          <p:cNvPr id="3" name="Picture 2">
            <a:extLst>
              <a:ext uri="{FF2B5EF4-FFF2-40B4-BE49-F238E27FC236}">
                <a16:creationId xmlns:a16="http://schemas.microsoft.com/office/drawing/2014/main" id="{550FDA95-9AC3-4F82-2721-BD1D1B11C5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3984"/>
            <a:ext cx="12075090" cy="6144016"/>
          </a:xfrm>
          <a:prstGeom prst="rect">
            <a:avLst/>
          </a:prstGeom>
        </p:spPr>
      </p:pic>
    </p:spTree>
    <p:extLst>
      <p:ext uri="{BB962C8B-B14F-4D97-AF65-F5344CB8AC3E}">
        <p14:creationId xmlns:p14="http://schemas.microsoft.com/office/powerpoint/2010/main" val="3317972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pattFill prst="pct5">
          <a:fgClr>
            <a:srgbClr val="FFE6B9"/>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654A8-3DE7-BDAD-C661-3B2AC06A1BC0}"/>
              </a:ext>
            </a:extLst>
          </p:cNvPr>
          <p:cNvSpPr>
            <a:spLocks noGrp="1"/>
          </p:cNvSpPr>
          <p:nvPr>
            <p:ph type="title"/>
          </p:nvPr>
        </p:nvSpPr>
        <p:spPr/>
        <p:txBody>
          <a:bodyPr>
            <a:normAutofit fontScale="90000"/>
          </a:bodyPr>
          <a:lstStyle/>
          <a:p>
            <a:pPr algn="ctr"/>
            <a:r>
              <a:rPr lang="en-US" sz="3100" b="1" dirty="0">
                <a:solidFill>
                  <a:srgbClr val="644C00"/>
                </a:solidFill>
                <a:latin typeface="Arial Black" panose="020B0A04020102020204" pitchFamily="34" charset="0"/>
              </a:rPr>
              <a:t>KPI ANALYSIS</a:t>
            </a:r>
            <a:br>
              <a:rPr lang="en-US" dirty="0"/>
            </a:br>
            <a:br>
              <a:rPr lang="en-US" dirty="0"/>
            </a:br>
            <a:endParaRPr lang="en-US" dirty="0"/>
          </a:p>
        </p:txBody>
      </p:sp>
      <p:sp>
        <p:nvSpPr>
          <p:cNvPr id="6" name="Rectangle 1">
            <a:extLst>
              <a:ext uri="{FF2B5EF4-FFF2-40B4-BE49-F238E27FC236}">
                <a16:creationId xmlns:a16="http://schemas.microsoft.com/office/drawing/2014/main" id="{9A37C720-6D11-9D1A-C582-638308C00C14}"/>
              </a:ext>
            </a:extLst>
          </p:cNvPr>
          <p:cNvSpPr>
            <a:spLocks noGrp="1" noChangeArrowheads="1"/>
          </p:cNvSpPr>
          <p:nvPr>
            <p:ph idx="4294967295"/>
          </p:nvPr>
        </p:nvSpPr>
        <p:spPr bwMode="auto">
          <a:xfrm>
            <a:off x="994410" y="1236433"/>
            <a:ext cx="10958104" cy="5529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kumimoji="0" lang="en-US" altLang="en-US" sz="2000" b="1" i="0" u="none" strike="noStrike" cap="none" normalizeH="0" baseline="0" dirty="0">
                <a:ln>
                  <a:noFill/>
                </a:ln>
                <a:solidFill>
                  <a:srgbClr val="644C00"/>
                </a:solidFill>
                <a:effectLst/>
                <a:latin typeface="Segoe UI Black" panose="020B0A02040204020203" pitchFamily="34" charset="0"/>
                <a:ea typeface="Segoe UI Black" panose="020B0A02040204020203" pitchFamily="34" charset="0"/>
                <a:cs typeface="Times New Roman" panose="02020603050405020304" pitchFamily="18" charset="0"/>
              </a:rPr>
              <a:t>Total revenue </a:t>
            </a:r>
            <a:r>
              <a:rPr lang="en-US" sz="2000" dirty="0">
                <a:solidFill>
                  <a:srgbClr val="644C00"/>
                </a:solidFill>
                <a:latin typeface="Times New Roman" panose="02020603050405020304" pitchFamily="18" charset="0"/>
                <a:cs typeface="Times New Roman" panose="02020603050405020304" pitchFamily="18" charset="0"/>
              </a:rPr>
              <a:t>for the year is approximately </a:t>
            </a:r>
            <a:r>
              <a:rPr lang="en-US" sz="2000" b="1" dirty="0">
                <a:solidFill>
                  <a:srgbClr val="644C00"/>
                </a:solidFill>
                <a:latin typeface="Times New Roman" panose="02020603050405020304" pitchFamily="18" charset="0"/>
                <a:cs typeface="Times New Roman" panose="02020603050405020304" pitchFamily="18" charset="0"/>
              </a:rPr>
              <a:t>₦23 million</a:t>
            </a:r>
            <a:r>
              <a:rPr lang="en-US" sz="2000" dirty="0">
                <a:solidFill>
                  <a:srgbClr val="644C00"/>
                </a:solidFill>
                <a:latin typeface="Times New Roman" panose="02020603050405020304" pitchFamily="18" charset="0"/>
                <a:cs typeface="Times New Roman" panose="02020603050405020304" pitchFamily="18" charset="0"/>
              </a:rPr>
              <a:t>, with a strong peak in </a:t>
            </a:r>
            <a:r>
              <a:rPr lang="en-US" sz="2000" b="1" dirty="0">
                <a:solidFill>
                  <a:srgbClr val="644C00"/>
                </a:solidFill>
                <a:latin typeface="Times New Roman" panose="02020603050405020304" pitchFamily="18" charset="0"/>
                <a:cs typeface="Times New Roman" panose="02020603050405020304" pitchFamily="18" charset="0"/>
              </a:rPr>
              <a:t>January (₦3.6M)</a:t>
            </a:r>
            <a:r>
              <a:rPr lang="en-US" sz="2000" dirty="0">
                <a:solidFill>
                  <a:srgbClr val="644C00"/>
                </a:solidFill>
                <a:latin typeface="Times New Roman" panose="02020603050405020304" pitchFamily="18" charset="0"/>
                <a:cs typeface="Times New Roman" panose="02020603050405020304" pitchFamily="18" charset="0"/>
              </a:rPr>
              <a:t> followed by a steady decline and fluctuations across the remaining months. Revenue generally weakened after Q1, with the lowest point around </a:t>
            </a:r>
            <a:r>
              <a:rPr lang="en-US" sz="2000" b="1" dirty="0">
                <a:solidFill>
                  <a:srgbClr val="644C00"/>
                </a:solidFill>
                <a:latin typeface="Times New Roman" panose="02020603050405020304" pitchFamily="18" charset="0"/>
                <a:cs typeface="Times New Roman" panose="02020603050405020304" pitchFamily="18" charset="0"/>
              </a:rPr>
              <a:t>September (₦1.44M)</a:t>
            </a:r>
            <a:r>
              <a:rPr lang="en-US" sz="2000" dirty="0">
                <a:solidFill>
                  <a:srgbClr val="644C00"/>
                </a:solidFill>
                <a:latin typeface="Times New Roman" panose="02020603050405020304" pitchFamily="18" charset="0"/>
                <a:cs typeface="Times New Roman" panose="02020603050405020304" pitchFamily="18" charset="0"/>
              </a:rPr>
              <a:t>, before slightly stabilizing toward year-end.</a:t>
            </a:r>
          </a:p>
          <a:p>
            <a:pPr marL="0" indent="0" eaLnBrk="0" fontAlgn="base" hangingPunct="0">
              <a:lnSpc>
                <a:spcPct val="100000"/>
              </a:lnSpc>
              <a:spcBef>
                <a:spcPct val="0"/>
              </a:spcBef>
              <a:spcAft>
                <a:spcPct val="0"/>
              </a:spcAft>
              <a:buNone/>
            </a:pPr>
            <a:r>
              <a:rPr lang="en-US" sz="2000" dirty="0">
                <a:solidFill>
                  <a:srgbClr val="644C00"/>
                </a:solidFill>
              </a:rPr>
              <a:t>This decline happens because </a:t>
            </a:r>
            <a:r>
              <a:rPr lang="en-US" sz="2000" b="1" dirty="0">
                <a:solidFill>
                  <a:srgbClr val="644C00"/>
                </a:solidFill>
              </a:rPr>
              <a:t>demand is highest at the beginning of the year (holiday/seasonal effect)</a:t>
            </a:r>
            <a:r>
              <a:rPr lang="en-US" sz="2000" dirty="0">
                <a:solidFill>
                  <a:srgbClr val="644C00"/>
                </a:solidFill>
              </a:rPr>
              <a:t>, then reduces as customer spending slows down. Also, inconsistent promotions and changing demand across months affect sales stability.</a:t>
            </a:r>
          </a:p>
          <a:p>
            <a:pPr marL="0" indent="0" eaLnBrk="0" fontAlgn="base" hangingPunct="0">
              <a:lnSpc>
                <a:spcPct val="100000"/>
              </a:lnSpc>
              <a:spcBef>
                <a:spcPct val="0"/>
              </a:spcBef>
              <a:spcAft>
                <a:spcPct val="0"/>
              </a:spcAft>
              <a:buNone/>
            </a:pPr>
            <a:endParaRPr lang="en-US" sz="2000" dirty="0">
              <a:solidFill>
                <a:srgbClr val="644C00"/>
              </a:solidFill>
              <a:latin typeface="Times New Roman" panose="02020603050405020304" pitchFamily="18" charset="0"/>
              <a:cs typeface="Times New Roman" panose="02020603050405020304" pitchFamily="18" charset="0"/>
            </a:endParaRPr>
          </a:p>
          <a:p>
            <a:pPr marL="0" indent="0">
              <a:buNone/>
            </a:pPr>
            <a:r>
              <a:rPr lang="en-US" sz="2000" b="1" dirty="0">
                <a:solidFill>
                  <a:srgbClr val="644C00"/>
                </a:solidFill>
                <a:latin typeface="Segoe UI Black" panose="020B0A02040204020203" pitchFamily="34" charset="0"/>
                <a:ea typeface="Segoe UI Black" panose="020B0A02040204020203" pitchFamily="34" charset="0"/>
              </a:rPr>
              <a:t>Total profits ;</a:t>
            </a:r>
            <a:r>
              <a:rPr lang="en-US" sz="2000" dirty="0">
                <a:solidFill>
                  <a:srgbClr val="644C00"/>
                </a:solidFill>
              </a:rPr>
              <a:t>The business recorded about </a:t>
            </a:r>
            <a:r>
              <a:rPr lang="en-US" sz="2000" b="1" dirty="0">
                <a:solidFill>
                  <a:srgbClr val="644C00"/>
                </a:solidFill>
              </a:rPr>
              <a:t>500 total customers</a:t>
            </a:r>
            <a:r>
              <a:rPr lang="en-US" sz="2000" dirty="0">
                <a:solidFill>
                  <a:srgbClr val="644C00"/>
                </a:solidFill>
              </a:rPr>
              <a:t>, with higher customer activity in </a:t>
            </a:r>
            <a:r>
              <a:rPr lang="en-US" sz="2000" b="1" dirty="0">
                <a:solidFill>
                  <a:srgbClr val="644C00"/>
                </a:solidFill>
              </a:rPr>
              <a:t>January (193 customers)</a:t>
            </a:r>
            <a:r>
              <a:rPr lang="en-US" sz="2000" dirty="0">
                <a:solidFill>
                  <a:srgbClr val="644C00"/>
                </a:solidFill>
              </a:rPr>
              <a:t> and lower activity in some months like April</a:t>
            </a:r>
            <a:r>
              <a:rPr lang="en-US" sz="2000" b="1" dirty="0">
                <a:solidFill>
                  <a:srgbClr val="644C00"/>
                </a:solidFill>
              </a:rPr>
              <a:t> and October (~101 customers)</a:t>
            </a:r>
            <a:r>
              <a:rPr lang="en-US" sz="2000" dirty="0">
                <a:solidFill>
                  <a:srgbClr val="644C00"/>
                </a:solidFill>
              </a:rPr>
              <a:t>.Customer numbers drop in some months due to </a:t>
            </a:r>
            <a:r>
              <a:rPr lang="en-US" sz="2000" b="1" dirty="0">
                <a:solidFill>
                  <a:srgbClr val="644C00"/>
                </a:solidFill>
              </a:rPr>
              <a:t>low buying seasons, reduced promotions, or fewer returning purchases</a:t>
            </a:r>
            <a:r>
              <a:rPr lang="en-US" sz="2000" dirty="0">
                <a:solidFill>
                  <a:srgbClr val="644C00"/>
                </a:solidFill>
              </a:rPr>
              <a:t>, which directly reduces sales volume.</a:t>
            </a:r>
          </a:p>
          <a:p>
            <a:endParaRPr lang="en-US" sz="2000" dirty="0"/>
          </a:p>
          <a:p>
            <a:pPr marL="0" indent="0">
              <a:buNone/>
            </a:pPr>
            <a:r>
              <a:rPr lang="en-US" sz="2000" b="1" dirty="0">
                <a:solidFill>
                  <a:srgbClr val="644C00"/>
                </a:solidFill>
                <a:latin typeface="Arial Black" panose="020B0A04020102020204" pitchFamily="34" charset="0"/>
              </a:rPr>
              <a:t>Total Customers </a:t>
            </a:r>
            <a:r>
              <a:rPr lang="en-US" sz="2000" dirty="0">
                <a:solidFill>
                  <a:srgbClr val="644C00"/>
                </a:solidFill>
                <a:latin typeface="Times New Roman" panose="02020603050405020304" pitchFamily="18" charset="0"/>
                <a:cs typeface="Times New Roman" panose="02020603050405020304" pitchFamily="18" charset="0"/>
              </a:rPr>
              <a:t>; Total profit fluctuated across the year, with the highest in </a:t>
            </a:r>
            <a:r>
              <a:rPr lang="en-US" sz="2000" b="1" dirty="0">
                <a:solidFill>
                  <a:srgbClr val="644C00"/>
                </a:solidFill>
                <a:latin typeface="Times New Roman" panose="02020603050405020304" pitchFamily="18" charset="0"/>
                <a:cs typeface="Times New Roman" panose="02020603050405020304" pitchFamily="18" charset="0"/>
              </a:rPr>
              <a:t>October (₦433K)</a:t>
            </a:r>
            <a:r>
              <a:rPr lang="en-US" sz="2000" dirty="0">
                <a:solidFill>
                  <a:srgbClr val="644C00"/>
                </a:solidFill>
                <a:latin typeface="Times New Roman" panose="02020603050405020304" pitchFamily="18" charset="0"/>
                <a:cs typeface="Times New Roman" panose="02020603050405020304" pitchFamily="18" charset="0"/>
              </a:rPr>
              <a:t> and </a:t>
            </a:r>
            <a:r>
              <a:rPr lang="en-US" sz="2000" b="1" dirty="0">
                <a:solidFill>
                  <a:srgbClr val="644C00"/>
                </a:solidFill>
                <a:latin typeface="Times New Roman" panose="02020603050405020304" pitchFamily="18" charset="0"/>
                <a:cs typeface="Times New Roman" panose="02020603050405020304" pitchFamily="18" charset="0"/>
              </a:rPr>
              <a:t>May (₦376K)</a:t>
            </a:r>
            <a:r>
              <a:rPr lang="en-US" sz="2000" dirty="0">
                <a:solidFill>
                  <a:srgbClr val="644C00"/>
                </a:solidFill>
                <a:latin typeface="Times New Roman" panose="02020603050405020304" pitchFamily="18" charset="0"/>
                <a:cs typeface="Times New Roman" panose="02020603050405020304" pitchFamily="18" charset="0"/>
              </a:rPr>
              <a:t>, while lower profits appeared in months like </a:t>
            </a:r>
            <a:r>
              <a:rPr lang="en-US" sz="2000" b="1" dirty="0">
                <a:solidFill>
                  <a:srgbClr val="644C00"/>
                </a:solidFill>
                <a:latin typeface="Times New Roman" panose="02020603050405020304" pitchFamily="18" charset="0"/>
                <a:cs typeface="Times New Roman" panose="02020603050405020304" pitchFamily="18" charset="0"/>
              </a:rPr>
              <a:t>April and March</a:t>
            </a:r>
            <a:r>
              <a:rPr lang="en-US" sz="2000" dirty="0">
                <a:solidFill>
                  <a:srgbClr val="644C00"/>
                </a:solidFill>
                <a:latin typeface="Times New Roman" panose="02020603050405020304" pitchFamily="18" charset="0"/>
                <a:cs typeface="Times New Roman" panose="02020603050405020304" pitchFamily="18" charset="0"/>
              </a:rPr>
              <a:t>.</a:t>
            </a:r>
          </a:p>
          <a:p>
            <a:pPr marL="0" indent="0">
              <a:buNone/>
            </a:pPr>
            <a:r>
              <a:rPr lang="en-US" sz="2000" dirty="0">
                <a:solidFill>
                  <a:srgbClr val="644C00"/>
                </a:solidFill>
                <a:latin typeface="Times New Roman" panose="02020603050405020304" pitchFamily="18" charset="0"/>
                <a:cs typeface="Times New Roman" panose="02020603050405020304" pitchFamily="18" charset="0"/>
              </a:rPr>
              <a:t>Profit drops mainly because </a:t>
            </a:r>
            <a:r>
              <a:rPr lang="en-US" sz="2000" b="1" dirty="0">
                <a:solidFill>
                  <a:srgbClr val="644C00"/>
                </a:solidFill>
                <a:latin typeface="Times New Roman" panose="02020603050405020304" pitchFamily="18" charset="0"/>
                <a:cs typeface="Times New Roman" panose="02020603050405020304" pitchFamily="18" charset="0"/>
              </a:rPr>
              <a:t>discounts are too high and some products are sold below cost price</a:t>
            </a:r>
            <a:r>
              <a:rPr lang="en-US" sz="2000" dirty="0">
                <a:solidFill>
                  <a:srgbClr val="644C00"/>
                </a:solidFill>
                <a:latin typeface="Times New Roman" panose="02020603050405020304" pitchFamily="18" charset="0"/>
                <a:cs typeface="Times New Roman" panose="02020603050405020304" pitchFamily="18" charset="0"/>
              </a:rPr>
              <a:t>, reducing actual earnings even when sales happen.</a:t>
            </a:r>
          </a:p>
          <a:p>
            <a:pPr marL="0" lv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rgbClr val="644C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2730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E14739-4C9A-3271-535E-93ECAF225C28}"/>
              </a:ext>
            </a:extLst>
          </p:cNvPr>
          <p:cNvSpPr>
            <a:spLocks noGrp="1"/>
          </p:cNvSpPr>
          <p:nvPr>
            <p:ph type="title"/>
          </p:nvPr>
        </p:nvSpPr>
        <p:spPr>
          <a:xfrm>
            <a:off x="1117600" y="270933"/>
            <a:ext cx="10236199" cy="1419755"/>
          </a:xfrm>
        </p:spPr>
        <p:txBody>
          <a:bodyPr>
            <a:noAutofit/>
          </a:bodyPr>
          <a:lstStyle/>
          <a:p>
            <a:pPr algn="ctr"/>
            <a:r>
              <a:rPr lang="en-US" sz="3600" b="1" dirty="0">
                <a:solidFill>
                  <a:srgbClr val="644C00"/>
                </a:solidFill>
                <a:latin typeface="Arial Black" panose="020B0A04020102020204" pitchFamily="34" charset="0"/>
              </a:rPr>
              <a:t>KPI ANALYSIS</a:t>
            </a:r>
            <a:br>
              <a:rPr lang="en-US" sz="3600" dirty="0"/>
            </a:br>
            <a:br>
              <a:rPr lang="en-US" sz="3600" dirty="0"/>
            </a:br>
            <a:endParaRPr lang="en-US" sz="3600" dirty="0"/>
          </a:p>
        </p:txBody>
      </p:sp>
      <p:sp>
        <p:nvSpPr>
          <p:cNvPr id="5" name="Content Placeholder 4">
            <a:extLst>
              <a:ext uri="{FF2B5EF4-FFF2-40B4-BE49-F238E27FC236}">
                <a16:creationId xmlns:a16="http://schemas.microsoft.com/office/drawing/2014/main" id="{559FE01A-6560-BA59-F175-770B3292ED3C}"/>
              </a:ext>
            </a:extLst>
          </p:cNvPr>
          <p:cNvSpPr>
            <a:spLocks noGrp="1"/>
          </p:cNvSpPr>
          <p:nvPr>
            <p:ph idx="1"/>
          </p:nvPr>
        </p:nvSpPr>
        <p:spPr/>
        <p:txBody>
          <a:bodyPr>
            <a:normAutofit/>
          </a:bodyPr>
          <a:lstStyle/>
          <a:p>
            <a:r>
              <a:rPr lang="en-US" sz="2400" dirty="0">
                <a:solidFill>
                  <a:srgbClr val="644C00"/>
                </a:solidFill>
                <a:latin typeface="Arial Black" panose="020B0A04020102020204" pitchFamily="34" charset="0"/>
              </a:rPr>
              <a:t>Quantity Sold ;</a:t>
            </a:r>
            <a:r>
              <a:rPr lang="en-US" sz="2400" dirty="0">
                <a:solidFill>
                  <a:srgbClr val="644C00"/>
                </a:solidFill>
              </a:rPr>
              <a:t> A total of about </a:t>
            </a:r>
            <a:r>
              <a:rPr lang="en-US" sz="2400" b="1" dirty="0">
                <a:solidFill>
                  <a:srgbClr val="644C00"/>
                </a:solidFill>
              </a:rPr>
              <a:t>8,000 units were sold yearly</a:t>
            </a:r>
            <a:r>
              <a:rPr lang="en-US" sz="2400" dirty="0">
                <a:solidFill>
                  <a:srgbClr val="644C00"/>
                </a:solidFill>
              </a:rPr>
              <a:t>, with the highest sales in </a:t>
            </a:r>
            <a:r>
              <a:rPr lang="en-US" sz="2400" b="1" dirty="0">
                <a:solidFill>
                  <a:srgbClr val="644C00"/>
                </a:solidFill>
              </a:rPr>
              <a:t>January (1,000 units)</a:t>
            </a:r>
            <a:r>
              <a:rPr lang="en-US" sz="2400" dirty="0">
                <a:solidFill>
                  <a:srgbClr val="644C00"/>
                </a:solidFill>
              </a:rPr>
              <a:t> and lower sales in months like </a:t>
            </a:r>
            <a:r>
              <a:rPr lang="en-US" sz="2400" b="1" dirty="0">
                <a:solidFill>
                  <a:srgbClr val="644C00"/>
                </a:solidFill>
              </a:rPr>
              <a:t>October (581 units)</a:t>
            </a:r>
            <a:r>
              <a:rPr lang="en-US" sz="2400" dirty="0">
                <a:solidFill>
                  <a:srgbClr val="644C00"/>
                </a:solidFill>
              </a:rPr>
              <a:t>. The decline is linked to </a:t>
            </a:r>
            <a:r>
              <a:rPr lang="en-US" sz="2400" b="1" dirty="0">
                <a:solidFill>
                  <a:srgbClr val="644C00"/>
                </a:solidFill>
              </a:rPr>
              <a:t>reduced demand after peak months and pricing/discount issues affecting purchase behavior</a:t>
            </a:r>
            <a:r>
              <a:rPr lang="en-US" sz="2400" dirty="0">
                <a:solidFill>
                  <a:srgbClr val="644C00"/>
                </a:solidFill>
              </a:rPr>
              <a:t>.</a:t>
            </a:r>
          </a:p>
          <a:p>
            <a:endParaRPr lang="en-US" sz="2400" dirty="0">
              <a:solidFill>
                <a:srgbClr val="644C00"/>
              </a:solidFill>
              <a:latin typeface="Times New Roman" panose="02020603050405020304" pitchFamily="18" charset="0"/>
              <a:cs typeface="Times New Roman" panose="02020603050405020304" pitchFamily="18" charset="0"/>
            </a:endParaRPr>
          </a:p>
          <a:p>
            <a:r>
              <a:rPr lang="en-US" sz="2400" b="1" dirty="0">
                <a:solidFill>
                  <a:srgbClr val="644C00"/>
                </a:solidFill>
                <a:latin typeface="Arial Black" panose="020B0A04020102020204" pitchFamily="34" charset="0"/>
                <a:cs typeface="Times New Roman" panose="02020603050405020304" pitchFamily="18" charset="0"/>
              </a:rPr>
              <a:t>Profit margins ;</a:t>
            </a:r>
            <a:r>
              <a:rPr lang="en-US" sz="2400" dirty="0">
                <a:solidFill>
                  <a:srgbClr val="644C00"/>
                </a:solidFill>
                <a:latin typeface="Times New Roman" panose="02020603050405020304" pitchFamily="18" charset="0"/>
                <a:cs typeface="Times New Roman" panose="02020603050405020304" pitchFamily="18" charset="0"/>
              </a:rPr>
              <a:t>.</a:t>
            </a:r>
            <a:r>
              <a:rPr lang="en-US" sz="2400" dirty="0"/>
              <a:t> </a:t>
            </a:r>
            <a:r>
              <a:rPr lang="en-US" sz="2400" dirty="0">
                <a:solidFill>
                  <a:srgbClr val="644C00"/>
                </a:solidFill>
              </a:rPr>
              <a:t>The </a:t>
            </a:r>
            <a:r>
              <a:rPr lang="en-US" sz="2400" b="1" dirty="0">
                <a:solidFill>
                  <a:srgbClr val="644C00"/>
                </a:solidFill>
              </a:rPr>
              <a:t>overall profit margin for the year is about 13.87%</a:t>
            </a:r>
            <a:r>
              <a:rPr lang="en-US" sz="2400" dirty="0">
                <a:solidFill>
                  <a:srgbClr val="644C00"/>
                </a:solidFill>
              </a:rPr>
              <a:t>, showing moderate profitability.</a:t>
            </a:r>
            <a:br>
              <a:rPr lang="en-US" sz="2400" dirty="0">
                <a:solidFill>
                  <a:srgbClr val="644C00"/>
                </a:solidFill>
              </a:rPr>
            </a:br>
            <a:r>
              <a:rPr lang="en-US" sz="2400" dirty="0">
                <a:solidFill>
                  <a:srgbClr val="644C00"/>
                </a:solidFill>
              </a:rPr>
              <a:t>Margins were highest in </a:t>
            </a:r>
            <a:r>
              <a:rPr lang="en-US" sz="2400" b="1" dirty="0">
                <a:solidFill>
                  <a:srgbClr val="644C00"/>
                </a:solidFill>
              </a:rPr>
              <a:t>October (24.99%) and May (18.82%)</a:t>
            </a:r>
            <a:r>
              <a:rPr lang="en-US" sz="2400" dirty="0">
                <a:solidFill>
                  <a:srgbClr val="644C00"/>
                </a:solidFill>
              </a:rPr>
              <a:t>, and lowest in </a:t>
            </a:r>
            <a:r>
              <a:rPr lang="en-US" sz="2400" b="1" dirty="0">
                <a:solidFill>
                  <a:srgbClr val="644C00"/>
                </a:solidFill>
              </a:rPr>
              <a:t>April (8.27%)</a:t>
            </a:r>
            <a:r>
              <a:rPr lang="en-US" sz="2400" dirty="0">
                <a:solidFill>
                  <a:srgbClr val="644C00"/>
                </a:solidFill>
              </a:rPr>
              <a:t>. This fluctuation happens because </a:t>
            </a:r>
            <a:r>
              <a:rPr lang="en-US" sz="2400" b="1" dirty="0">
                <a:solidFill>
                  <a:srgbClr val="644C00"/>
                </a:solidFill>
              </a:rPr>
              <a:t>high discount rates and selling below cost price reduce overall profit efficiency</a:t>
            </a:r>
            <a:r>
              <a:rPr lang="en-US" sz="2400" dirty="0"/>
              <a:t>.</a:t>
            </a:r>
          </a:p>
          <a:p>
            <a:endParaRPr lang="en-US" sz="2400" dirty="0">
              <a:solidFill>
                <a:srgbClr val="644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5134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BCACB-F7FF-FAF4-6323-FAC3B4B860F6}"/>
              </a:ext>
            </a:extLst>
          </p:cNvPr>
          <p:cNvSpPr>
            <a:spLocks noGrp="1"/>
          </p:cNvSpPr>
          <p:nvPr>
            <p:ph type="title"/>
          </p:nvPr>
        </p:nvSpPr>
        <p:spPr/>
        <p:txBody>
          <a:bodyPr>
            <a:normAutofit/>
          </a:bodyPr>
          <a:lstStyle/>
          <a:p>
            <a:pPr algn="ctr"/>
            <a:r>
              <a:rPr lang="en-US" sz="3200" b="1" dirty="0">
                <a:solidFill>
                  <a:srgbClr val="644C00"/>
                </a:solidFill>
                <a:latin typeface="Segoe UI Black" panose="020B0A02040204020203" pitchFamily="34" charset="0"/>
                <a:ea typeface="Segoe UI Black" panose="020B0A02040204020203" pitchFamily="34" charset="0"/>
              </a:rPr>
              <a:t>Products PERFORMANCE ANALYSES</a:t>
            </a:r>
          </a:p>
        </p:txBody>
      </p:sp>
      <p:sp>
        <p:nvSpPr>
          <p:cNvPr id="6" name="Content Placeholder 5">
            <a:extLst>
              <a:ext uri="{FF2B5EF4-FFF2-40B4-BE49-F238E27FC236}">
                <a16:creationId xmlns:a16="http://schemas.microsoft.com/office/drawing/2014/main" id="{14A869FB-5FAA-F715-6B7C-0C5CF1FE8ECF}"/>
              </a:ext>
            </a:extLst>
          </p:cNvPr>
          <p:cNvSpPr>
            <a:spLocks noGrp="1"/>
          </p:cNvSpPr>
          <p:nvPr>
            <p:ph idx="1"/>
          </p:nvPr>
        </p:nvSpPr>
        <p:spPr/>
        <p:txBody>
          <a:bodyPr>
            <a:normAutofit/>
          </a:bodyPr>
          <a:lstStyle/>
          <a:p>
            <a:pPr marL="0" indent="0">
              <a:buNone/>
            </a:pPr>
            <a:r>
              <a:rPr lang="en-US" sz="2400" dirty="0">
                <a:solidFill>
                  <a:srgbClr val="644C00"/>
                </a:solidFill>
                <a:latin typeface="Times New Roman" panose="02020603050405020304" pitchFamily="18" charset="0"/>
                <a:cs typeface="Times New Roman" panose="02020603050405020304" pitchFamily="18" charset="0"/>
              </a:rPr>
              <a:t>High-performing products like </a:t>
            </a:r>
            <a:r>
              <a:rPr lang="en-US" sz="2400" b="1" dirty="0">
                <a:solidFill>
                  <a:srgbClr val="644C00"/>
                </a:solidFill>
                <a:latin typeface="Times New Roman" panose="02020603050405020304" pitchFamily="18" charset="0"/>
                <a:cs typeface="Times New Roman" panose="02020603050405020304" pitchFamily="18" charset="0"/>
              </a:rPr>
              <a:t>Chocolate Cake</a:t>
            </a:r>
            <a:r>
              <a:rPr lang="en-US" sz="2400" dirty="0">
                <a:solidFill>
                  <a:srgbClr val="644C00"/>
                </a:solidFill>
                <a:latin typeface="Times New Roman" panose="02020603050405020304" pitchFamily="18" charset="0"/>
                <a:cs typeface="Times New Roman" panose="02020603050405020304" pitchFamily="18" charset="0"/>
              </a:rPr>
              <a:t> and </a:t>
            </a:r>
            <a:r>
              <a:rPr lang="en-US" sz="2400" b="1" dirty="0">
                <a:solidFill>
                  <a:srgbClr val="644C00"/>
                </a:solidFill>
                <a:latin typeface="Times New Roman" panose="02020603050405020304" pitchFamily="18" charset="0"/>
                <a:cs typeface="Times New Roman" panose="02020603050405020304" pitchFamily="18" charset="0"/>
              </a:rPr>
              <a:t>Vanilla Pastry</a:t>
            </a:r>
            <a:r>
              <a:rPr lang="en-US" sz="2400" dirty="0">
                <a:solidFill>
                  <a:srgbClr val="644C00"/>
                </a:solidFill>
                <a:latin typeface="Times New Roman" panose="02020603050405020304" pitchFamily="18" charset="0"/>
                <a:cs typeface="Times New Roman" panose="02020603050405020304" pitchFamily="18" charset="0"/>
              </a:rPr>
              <a:t> generated strong profits due to high sales and low discount usage, showing effective pricing.</a:t>
            </a:r>
          </a:p>
          <a:p>
            <a:pPr marL="0" indent="0">
              <a:buNone/>
            </a:pPr>
            <a:r>
              <a:rPr lang="en-US" sz="2400" dirty="0">
                <a:solidFill>
                  <a:srgbClr val="644C00"/>
                </a:solidFill>
                <a:latin typeface="Times New Roman" panose="02020603050405020304" pitchFamily="18" charset="0"/>
                <a:cs typeface="Times New Roman" panose="02020603050405020304" pitchFamily="18" charset="0"/>
              </a:rPr>
              <a:t> In contrast, products such as </a:t>
            </a:r>
            <a:r>
              <a:rPr lang="en-US" sz="2400" b="1" dirty="0">
                <a:solidFill>
                  <a:srgbClr val="644C00"/>
                </a:solidFill>
                <a:latin typeface="Times New Roman" panose="02020603050405020304" pitchFamily="18" charset="0"/>
                <a:cs typeface="Times New Roman" panose="02020603050405020304" pitchFamily="18" charset="0"/>
              </a:rPr>
              <a:t>Fruit Cake</a:t>
            </a:r>
            <a:r>
              <a:rPr lang="en-US" sz="2400" dirty="0">
                <a:solidFill>
                  <a:srgbClr val="644C00"/>
                </a:solidFill>
                <a:latin typeface="Times New Roman" panose="02020603050405020304" pitchFamily="18" charset="0"/>
                <a:cs typeface="Times New Roman" panose="02020603050405020304" pitchFamily="18" charset="0"/>
              </a:rPr>
              <a:t> and </a:t>
            </a:r>
            <a:r>
              <a:rPr lang="en-US" sz="2400" b="1" dirty="0">
                <a:solidFill>
                  <a:srgbClr val="644C00"/>
                </a:solidFill>
                <a:latin typeface="Times New Roman" panose="02020603050405020304" pitchFamily="18" charset="0"/>
                <a:cs typeface="Times New Roman" panose="02020603050405020304" pitchFamily="18" charset="0"/>
              </a:rPr>
              <a:t>Strawberry Cupcake</a:t>
            </a:r>
            <a:r>
              <a:rPr lang="en-US" sz="2400" dirty="0">
                <a:solidFill>
                  <a:srgbClr val="644C00"/>
                </a:solidFill>
                <a:latin typeface="Times New Roman" panose="02020603050405020304" pitchFamily="18" charset="0"/>
                <a:cs typeface="Times New Roman" panose="02020603050405020304" pitchFamily="18" charset="0"/>
              </a:rPr>
              <a:t> recorded losses as they were sold below cost price and heavily discounted.</a:t>
            </a:r>
          </a:p>
          <a:p>
            <a:pPr marL="0" indent="0">
              <a:buNone/>
            </a:pPr>
            <a:r>
              <a:rPr lang="en-US" sz="2400" dirty="0">
                <a:solidFill>
                  <a:srgbClr val="644C00"/>
                </a:solidFill>
                <a:latin typeface="Times New Roman" panose="02020603050405020304" pitchFamily="18" charset="0"/>
                <a:cs typeface="Times New Roman" panose="02020603050405020304" pitchFamily="18" charset="0"/>
              </a:rPr>
              <a:t> </a:t>
            </a:r>
            <a:r>
              <a:rPr lang="en-US" sz="2400" b="1" dirty="0">
                <a:solidFill>
                  <a:srgbClr val="644C00"/>
                </a:solidFill>
                <a:latin typeface="Times New Roman" panose="02020603050405020304" pitchFamily="18" charset="0"/>
                <a:cs typeface="Times New Roman" panose="02020603050405020304" pitchFamily="18" charset="0"/>
              </a:rPr>
              <a:t>Black Forest Cake</a:t>
            </a:r>
            <a:r>
              <a:rPr lang="en-US" sz="2400" dirty="0">
                <a:solidFill>
                  <a:srgbClr val="644C00"/>
                </a:solidFill>
                <a:latin typeface="Times New Roman" panose="02020603050405020304" pitchFamily="18" charset="0"/>
                <a:cs typeface="Times New Roman" panose="02020603050405020304" pitchFamily="18" charset="0"/>
              </a:rPr>
              <a:t> saw increased sales from discounts, but profits remained low due to thin margins. Meanwhile, </a:t>
            </a:r>
            <a:r>
              <a:rPr lang="en-US" sz="2400" b="1" dirty="0">
                <a:solidFill>
                  <a:srgbClr val="644C00"/>
                </a:solidFill>
                <a:latin typeface="Times New Roman" panose="02020603050405020304" pitchFamily="18" charset="0"/>
                <a:cs typeface="Times New Roman" panose="02020603050405020304" pitchFamily="18" charset="0"/>
              </a:rPr>
              <a:t>Meat Pie</a:t>
            </a:r>
            <a:r>
              <a:rPr lang="en-US" sz="2400" dirty="0">
                <a:solidFill>
                  <a:srgbClr val="644C00"/>
                </a:solidFill>
                <a:latin typeface="Times New Roman" panose="02020603050405020304" pitchFamily="18" charset="0"/>
                <a:cs typeface="Times New Roman" panose="02020603050405020304" pitchFamily="18" charset="0"/>
              </a:rPr>
              <a:t> maintained stable performance without heavy discounts, indicating good pricing strategy.</a:t>
            </a:r>
          </a:p>
          <a:p>
            <a:pPr marL="0" indent="0">
              <a:buNone/>
            </a:pPr>
            <a:r>
              <a:rPr lang="en-US" sz="2400" dirty="0">
                <a:solidFill>
                  <a:srgbClr val="644C00"/>
                </a:solidFill>
                <a:latin typeface="Times New Roman" panose="02020603050405020304" pitchFamily="18" charset="0"/>
                <a:cs typeface="Times New Roman" panose="02020603050405020304" pitchFamily="18" charset="0"/>
              </a:rPr>
              <a:t> Overall, losses across products were mainly driven by excessive discounting and selling below cost, while profitable products relied on controlled pricing and strong demand.</a:t>
            </a:r>
          </a:p>
        </p:txBody>
      </p:sp>
    </p:spTree>
    <p:extLst>
      <p:ext uri="{BB962C8B-B14F-4D97-AF65-F5344CB8AC3E}">
        <p14:creationId xmlns:p14="http://schemas.microsoft.com/office/powerpoint/2010/main" val="178271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19C48-3800-BDDF-D117-88F9C427DE62}"/>
              </a:ext>
            </a:extLst>
          </p:cNvPr>
          <p:cNvSpPr>
            <a:spLocks noGrp="1"/>
          </p:cNvSpPr>
          <p:nvPr>
            <p:ph type="title"/>
          </p:nvPr>
        </p:nvSpPr>
        <p:spPr/>
        <p:txBody>
          <a:bodyPr>
            <a:normAutofit/>
          </a:bodyPr>
          <a:lstStyle/>
          <a:p>
            <a:pPr algn="ctr"/>
            <a:r>
              <a:rPr lang="en-US" sz="3600" b="1" dirty="0">
                <a:solidFill>
                  <a:srgbClr val="644C00"/>
                </a:solidFill>
                <a:latin typeface="Segoe UI Black" panose="020B0A02040204020203" pitchFamily="34" charset="0"/>
                <a:ea typeface="Segoe UI Black" panose="020B0A02040204020203" pitchFamily="34" charset="0"/>
              </a:rPr>
              <a:t>Categories Analysis</a:t>
            </a:r>
          </a:p>
        </p:txBody>
      </p:sp>
      <p:sp>
        <p:nvSpPr>
          <p:cNvPr id="3" name="Content Placeholder 2">
            <a:extLst>
              <a:ext uri="{FF2B5EF4-FFF2-40B4-BE49-F238E27FC236}">
                <a16:creationId xmlns:a16="http://schemas.microsoft.com/office/drawing/2014/main" id="{A6715B60-2C9D-A94F-93FB-A5183DBBCE6A}"/>
              </a:ext>
            </a:extLst>
          </p:cNvPr>
          <p:cNvSpPr>
            <a:spLocks noGrp="1"/>
          </p:cNvSpPr>
          <p:nvPr>
            <p:ph idx="1"/>
          </p:nvPr>
        </p:nvSpPr>
        <p:spPr>
          <a:xfrm>
            <a:off x="838200" y="1295400"/>
            <a:ext cx="10515600" cy="4881563"/>
          </a:xfrm>
        </p:spPr>
        <p:txBody>
          <a:bodyPr>
            <a:normAutofit fontScale="92500" lnSpcReduction="20000"/>
          </a:bodyPr>
          <a:lstStyle/>
          <a:p>
            <a:r>
              <a:rPr lang="en-US" b="1" dirty="0">
                <a:solidFill>
                  <a:srgbClr val="644C00"/>
                </a:solidFill>
                <a:latin typeface="Segoe UI Black" panose="020B0A02040204020203" pitchFamily="34" charset="0"/>
                <a:ea typeface="Segoe UI Black" panose="020B0A02040204020203" pitchFamily="34" charset="0"/>
                <a:cs typeface="Times New Roman" panose="02020603050405020304" pitchFamily="18" charset="0"/>
              </a:rPr>
              <a:t>Cakes</a:t>
            </a:r>
            <a:r>
              <a:rPr lang="en-US" dirty="0">
                <a:solidFill>
                  <a:srgbClr val="644C00"/>
                </a:solidFill>
                <a:latin typeface="Times New Roman" panose="02020603050405020304" pitchFamily="18" charset="0"/>
                <a:cs typeface="Times New Roman" panose="02020603050405020304" pitchFamily="18" charset="0"/>
              </a:rPr>
              <a:t> generated the highest revenue and profit, driven by strong demand and relatively controlled discounting, making it the most valuable category. </a:t>
            </a:r>
          </a:p>
          <a:p>
            <a:endParaRPr lang="en-US" dirty="0">
              <a:solidFill>
                <a:srgbClr val="644C00"/>
              </a:solidFill>
              <a:latin typeface="Times New Roman" panose="02020603050405020304" pitchFamily="18" charset="0"/>
              <a:cs typeface="Times New Roman" panose="02020603050405020304" pitchFamily="18" charset="0"/>
            </a:endParaRPr>
          </a:p>
          <a:p>
            <a:r>
              <a:rPr lang="en-US" b="1" dirty="0">
                <a:solidFill>
                  <a:srgbClr val="644C00"/>
                </a:solidFill>
                <a:latin typeface="Segoe UI Black" panose="020B0A02040204020203" pitchFamily="34" charset="0"/>
                <a:ea typeface="Segoe UI Black" panose="020B0A02040204020203" pitchFamily="34" charset="0"/>
                <a:cs typeface="Times New Roman" panose="02020603050405020304" pitchFamily="18" charset="0"/>
              </a:rPr>
              <a:t>Pastries</a:t>
            </a:r>
            <a:r>
              <a:rPr lang="en-US" dirty="0">
                <a:solidFill>
                  <a:srgbClr val="644C00"/>
                </a:solidFill>
                <a:latin typeface="Segoe UI Black" panose="020B0A02040204020203" pitchFamily="34" charset="0"/>
                <a:ea typeface="Segoe UI Black" panose="020B0A02040204020203" pitchFamily="34" charset="0"/>
                <a:cs typeface="Times New Roman" panose="02020603050405020304" pitchFamily="18" charset="0"/>
              </a:rPr>
              <a:t> </a:t>
            </a:r>
            <a:r>
              <a:rPr lang="en-US" dirty="0">
                <a:solidFill>
                  <a:srgbClr val="644C00"/>
                </a:solidFill>
                <a:latin typeface="Times New Roman" panose="02020603050405020304" pitchFamily="18" charset="0"/>
                <a:cs typeface="Times New Roman" panose="02020603050405020304" pitchFamily="18" charset="0"/>
              </a:rPr>
              <a:t>also performed well with steady revenue and moderate profit, though slightly affected by occasional discounts. </a:t>
            </a:r>
          </a:p>
          <a:p>
            <a:endParaRPr lang="en-US" dirty="0">
              <a:solidFill>
                <a:srgbClr val="644C00"/>
              </a:solidFill>
              <a:latin typeface="Times New Roman" panose="02020603050405020304" pitchFamily="18" charset="0"/>
              <a:cs typeface="Times New Roman" panose="02020603050405020304" pitchFamily="18" charset="0"/>
            </a:endParaRPr>
          </a:p>
          <a:p>
            <a:r>
              <a:rPr lang="en-US" b="1" dirty="0">
                <a:solidFill>
                  <a:srgbClr val="644C00"/>
                </a:solidFill>
                <a:latin typeface="Arial Black" panose="020B0A04020102020204" pitchFamily="34" charset="0"/>
                <a:cs typeface="Times New Roman" panose="02020603050405020304" pitchFamily="18" charset="0"/>
              </a:rPr>
              <a:t>Chocolates</a:t>
            </a:r>
            <a:r>
              <a:rPr lang="en-US" dirty="0">
                <a:solidFill>
                  <a:srgbClr val="644C00"/>
                </a:solidFill>
                <a:latin typeface="Arial Black" panose="020B0A04020102020204" pitchFamily="34" charset="0"/>
                <a:cs typeface="Times New Roman" panose="02020603050405020304" pitchFamily="18" charset="0"/>
              </a:rPr>
              <a:t> </a:t>
            </a:r>
            <a:r>
              <a:rPr lang="en-US" dirty="0">
                <a:solidFill>
                  <a:srgbClr val="644C00"/>
                </a:solidFill>
                <a:latin typeface="Times New Roman" panose="02020603050405020304" pitchFamily="18" charset="0"/>
                <a:cs typeface="Times New Roman" panose="02020603050405020304" pitchFamily="18" charset="0"/>
              </a:rPr>
              <a:t>showed good revenue but lower profit margins due to higher discount application. In contrast,.</a:t>
            </a:r>
          </a:p>
          <a:p>
            <a:endParaRPr lang="en-US" dirty="0">
              <a:solidFill>
                <a:srgbClr val="644C00"/>
              </a:solidFill>
              <a:latin typeface="Times New Roman" panose="02020603050405020304" pitchFamily="18" charset="0"/>
              <a:cs typeface="Times New Roman" panose="02020603050405020304" pitchFamily="18" charset="0"/>
            </a:endParaRPr>
          </a:p>
          <a:p>
            <a:r>
              <a:rPr lang="en-US" b="1" dirty="0">
                <a:solidFill>
                  <a:srgbClr val="644C00"/>
                </a:solidFill>
                <a:latin typeface="Segoe UI Black" panose="020B0A02040204020203" pitchFamily="34" charset="0"/>
                <a:ea typeface="Segoe UI Black" panose="020B0A02040204020203" pitchFamily="34" charset="0"/>
                <a:cs typeface="Times New Roman" panose="02020603050405020304" pitchFamily="18" charset="0"/>
              </a:rPr>
              <a:t>Snacks</a:t>
            </a:r>
            <a:r>
              <a:rPr lang="en-US" dirty="0">
                <a:solidFill>
                  <a:srgbClr val="644C00"/>
                </a:solidFill>
                <a:latin typeface="Times New Roman" panose="02020603050405020304" pitchFamily="18" charset="0"/>
                <a:cs typeface="Times New Roman" panose="02020603050405020304" pitchFamily="18" charset="0"/>
              </a:rPr>
              <a:t> underperformed, contributing lower revenue and minimal profit as a result of frequent discounting and some products being sold close to or below cost price. Overall, while Cakes and Pastries drive profitability, Chocolates and Snacks require better pricing and discount control to improve margins</a:t>
            </a:r>
            <a:r>
              <a:rPr lang="en-US" dirty="0"/>
              <a:t>.</a:t>
            </a:r>
          </a:p>
        </p:txBody>
      </p:sp>
    </p:spTree>
    <p:extLst>
      <p:ext uri="{BB962C8B-B14F-4D97-AF65-F5344CB8AC3E}">
        <p14:creationId xmlns:p14="http://schemas.microsoft.com/office/powerpoint/2010/main" val="3864275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CA431-BC27-64EB-5B99-304546245EDE}"/>
              </a:ext>
            </a:extLst>
          </p:cNvPr>
          <p:cNvSpPr>
            <a:spLocks noGrp="1"/>
          </p:cNvSpPr>
          <p:nvPr>
            <p:ph type="title"/>
          </p:nvPr>
        </p:nvSpPr>
        <p:spPr>
          <a:xfrm>
            <a:off x="838200" y="-88899"/>
            <a:ext cx="10515600" cy="761999"/>
          </a:xfrm>
        </p:spPr>
        <p:txBody>
          <a:bodyPr>
            <a:normAutofit/>
          </a:bodyPr>
          <a:lstStyle/>
          <a:p>
            <a:pPr algn="ctr"/>
            <a:r>
              <a:rPr lang="en-US" sz="3600" b="1" dirty="0">
                <a:solidFill>
                  <a:srgbClr val="644C00"/>
                </a:solidFill>
                <a:latin typeface="Segoe UI Black" panose="020B0A02040204020203" pitchFamily="34" charset="0"/>
                <a:ea typeface="Segoe UI Black" panose="020B0A02040204020203" pitchFamily="34" charset="0"/>
              </a:rPr>
              <a:t>Store Performance Analysis</a:t>
            </a:r>
          </a:p>
        </p:txBody>
      </p:sp>
      <p:sp>
        <p:nvSpPr>
          <p:cNvPr id="3" name="Content Placeholder 2">
            <a:extLst>
              <a:ext uri="{FF2B5EF4-FFF2-40B4-BE49-F238E27FC236}">
                <a16:creationId xmlns:a16="http://schemas.microsoft.com/office/drawing/2014/main" id="{0E9A67C6-40FF-803A-38DE-B6D0CA3D3EC7}"/>
              </a:ext>
            </a:extLst>
          </p:cNvPr>
          <p:cNvSpPr>
            <a:spLocks noGrp="1"/>
          </p:cNvSpPr>
          <p:nvPr>
            <p:ph idx="1"/>
          </p:nvPr>
        </p:nvSpPr>
        <p:spPr>
          <a:xfrm>
            <a:off x="838200" y="863600"/>
            <a:ext cx="10515600" cy="5994400"/>
          </a:xfrm>
        </p:spPr>
        <p:txBody>
          <a:bodyPr>
            <a:normAutofit fontScale="55000" lnSpcReduction="20000"/>
          </a:bodyPr>
          <a:lstStyle/>
          <a:p>
            <a:pPr marL="0" indent="0">
              <a:buNone/>
            </a:pPr>
            <a:r>
              <a:rPr lang="en-US" sz="4400" dirty="0">
                <a:solidFill>
                  <a:srgbClr val="644C00"/>
                </a:solidFill>
                <a:latin typeface="Times New Roman" panose="02020603050405020304" pitchFamily="18" charset="0"/>
                <a:cs typeface="Times New Roman" panose="02020603050405020304" pitchFamily="18" charset="0"/>
              </a:rPr>
              <a:t>Across all stores, high discount rates are directly affecting profitability, even when revenue is strong. Stores are performing well in sales volume, but profit efficiency is reduced due to </a:t>
            </a:r>
            <a:r>
              <a:rPr lang="en-US" sz="4400" b="1" dirty="0">
                <a:solidFill>
                  <a:srgbClr val="644C00"/>
                </a:solidFill>
                <a:latin typeface="Times New Roman" panose="02020603050405020304" pitchFamily="18" charset="0"/>
                <a:cs typeface="Times New Roman" panose="02020603050405020304" pitchFamily="18" charset="0"/>
              </a:rPr>
              <a:t>aggressive discounting and possible pricing strategy issues</a:t>
            </a:r>
            <a:r>
              <a:rPr lang="en-US" sz="4400" dirty="0">
                <a:solidFill>
                  <a:srgbClr val="644C00"/>
                </a:solidFill>
                <a:latin typeface="Times New Roman" panose="02020603050405020304" pitchFamily="18" charset="0"/>
                <a:cs typeface="Times New Roman" panose="02020603050405020304" pitchFamily="18" charset="0"/>
              </a:rPr>
              <a:t>.</a:t>
            </a:r>
          </a:p>
          <a:p>
            <a:pPr marL="0" indent="0">
              <a:buNone/>
            </a:pPr>
            <a:endParaRPr lang="en-US" sz="4400" dirty="0">
              <a:solidFill>
                <a:srgbClr val="644C00"/>
              </a:solidFill>
              <a:latin typeface="Times New Roman" panose="02020603050405020304" pitchFamily="18" charset="0"/>
              <a:cs typeface="Times New Roman" panose="02020603050405020304" pitchFamily="18" charset="0"/>
            </a:endParaRPr>
          </a:p>
          <a:p>
            <a:r>
              <a:rPr lang="en-US" sz="4400" b="1" dirty="0">
                <a:solidFill>
                  <a:srgbClr val="644C00"/>
                </a:solidFill>
                <a:latin typeface="Times New Roman" panose="02020603050405020304" pitchFamily="18" charset="0"/>
                <a:cs typeface="Times New Roman" panose="02020603050405020304" pitchFamily="18" charset="0"/>
              </a:rPr>
              <a:t>Abuja Mall</a:t>
            </a:r>
            <a:r>
              <a:rPr lang="en-US" sz="4400" dirty="0">
                <a:solidFill>
                  <a:srgbClr val="644C00"/>
                </a:solidFill>
                <a:latin typeface="Times New Roman" panose="02020603050405020304" pitchFamily="18" charset="0"/>
                <a:cs typeface="Times New Roman" panose="02020603050405020304" pitchFamily="18" charset="0"/>
              </a:rPr>
              <a:t> generated (₦5,786,865m) and profit (₦438,713) with 2,121 units sold, showing strong demand despite a high discount rate (385%).</a:t>
            </a:r>
          </a:p>
          <a:p>
            <a:endParaRPr lang="en-US" sz="4400" dirty="0">
              <a:solidFill>
                <a:srgbClr val="644C00"/>
              </a:solidFill>
              <a:latin typeface="Times New Roman" panose="02020603050405020304" pitchFamily="18" charset="0"/>
              <a:cs typeface="Times New Roman" panose="02020603050405020304" pitchFamily="18" charset="0"/>
            </a:endParaRPr>
          </a:p>
          <a:p>
            <a:r>
              <a:rPr lang="en-US" sz="4400" b="1" dirty="0">
                <a:solidFill>
                  <a:srgbClr val="644C00"/>
                </a:solidFill>
                <a:latin typeface="Times New Roman" panose="02020603050405020304" pitchFamily="18" charset="0"/>
                <a:cs typeface="Times New Roman" panose="02020603050405020304" pitchFamily="18" charset="0"/>
              </a:rPr>
              <a:t>Kano Plaza</a:t>
            </a:r>
            <a:r>
              <a:rPr lang="en-US" sz="4400" dirty="0">
                <a:solidFill>
                  <a:srgbClr val="644C00"/>
                </a:solidFill>
                <a:latin typeface="Times New Roman" panose="02020603050405020304" pitchFamily="18" charset="0"/>
                <a:cs typeface="Times New Roman" panose="02020603050405020304" pitchFamily="18" charset="0"/>
              </a:rPr>
              <a:t> recorded the highest revenue ₦6.73M revenue and ₦1.28M profit, selling the highest quantity (2,308 units),  heavy discounts (409%) generating  the highest profit efficiency.</a:t>
            </a:r>
          </a:p>
          <a:p>
            <a:endParaRPr lang="en-US" sz="4400" dirty="0">
              <a:solidFill>
                <a:srgbClr val="644C00"/>
              </a:solidFill>
              <a:latin typeface="Times New Roman" panose="02020603050405020304" pitchFamily="18" charset="0"/>
              <a:cs typeface="Times New Roman" panose="02020603050405020304" pitchFamily="18" charset="0"/>
            </a:endParaRPr>
          </a:p>
          <a:p>
            <a:r>
              <a:rPr lang="en-US" sz="4400" b="1" dirty="0">
                <a:solidFill>
                  <a:srgbClr val="644C00"/>
                </a:solidFill>
                <a:latin typeface="Times New Roman" panose="02020603050405020304" pitchFamily="18" charset="0"/>
                <a:cs typeface="Times New Roman" panose="02020603050405020304" pitchFamily="18" charset="0"/>
              </a:rPr>
              <a:t>Lagos Central</a:t>
            </a:r>
            <a:r>
              <a:rPr lang="en-US" sz="4400" dirty="0">
                <a:solidFill>
                  <a:srgbClr val="644C00"/>
                </a:solidFill>
                <a:latin typeface="Times New Roman" panose="02020603050405020304" pitchFamily="18" charset="0"/>
                <a:cs typeface="Times New Roman" panose="02020603050405020304" pitchFamily="18" charset="0"/>
              </a:rPr>
              <a:t> made ₦5.76M revenue and ₦848K profit from 2,093 units sold, but high discounting (357%) limited its profitability performance</a:t>
            </a:r>
          </a:p>
          <a:p>
            <a:r>
              <a:rPr lang="en-US" sz="4400" dirty="0">
                <a:solidFill>
                  <a:srgbClr val="644C00"/>
                </a:solidFill>
                <a:latin typeface="Times New Roman" panose="02020603050405020304" pitchFamily="18" charset="0"/>
                <a:cs typeface="Times New Roman" panose="02020603050405020304" pitchFamily="18" charset="0"/>
              </a:rPr>
              <a:t>.</a:t>
            </a:r>
          </a:p>
          <a:p>
            <a:r>
              <a:rPr lang="en-US" sz="4400" b="1" dirty="0">
                <a:solidFill>
                  <a:srgbClr val="644C00"/>
                </a:solidFill>
                <a:latin typeface="Times New Roman" panose="02020603050405020304" pitchFamily="18" charset="0"/>
                <a:cs typeface="Times New Roman" panose="02020603050405020304" pitchFamily="18" charset="0"/>
              </a:rPr>
              <a:t>Port Harcourt Hub</a:t>
            </a:r>
            <a:r>
              <a:rPr lang="en-US" sz="4400" dirty="0">
                <a:solidFill>
                  <a:srgbClr val="644C00"/>
                </a:solidFill>
                <a:latin typeface="Times New Roman" panose="02020603050405020304" pitchFamily="18" charset="0"/>
                <a:cs typeface="Times New Roman" panose="02020603050405020304" pitchFamily="18" charset="0"/>
              </a:rPr>
              <a:t> had the lowest revenue (₦5.15M) and lowest sales volume (1,868 units), with ₦696K profit and the lowest discount rate (335%), indicating stable but low-scale performance.</a:t>
            </a:r>
          </a:p>
          <a:p>
            <a:endParaRPr lang="en-US" dirty="0"/>
          </a:p>
        </p:txBody>
      </p:sp>
    </p:spTree>
    <p:extLst>
      <p:ext uri="{BB962C8B-B14F-4D97-AF65-F5344CB8AC3E}">
        <p14:creationId xmlns:p14="http://schemas.microsoft.com/office/powerpoint/2010/main" val="2045561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CD52F-F8F3-9F26-4EFF-2DCF22A98D70}"/>
              </a:ext>
            </a:extLst>
          </p:cNvPr>
          <p:cNvSpPr>
            <a:spLocks noGrp="1"/>
          </p:cNvSpPr>
          <p:nvPr>
            <p:ph type="title"/>
          </p:nvPr>
        </p:nvSpPr>
        <p:spPr/>
        <p:txBody>
          <a:bodyPr>
            <a:normAutofit/>
          </a:bodyPr>
          <a:lstStyle/>
          <a:p>
            <a:r>
              <a:rPr lang="en-US" sz="3600" dirty="0">
                <a:solidFill>
                  <a:srgbClr val="644C00"/>
                </a:solidFill>
                <a:latin typeface="Segoe UI Black" panose="020B0A02040204020203" pitchFamily="34" charset="0"/>
                <a:ea typeface="Segoe UI Black" panose="020B0A02040204020203" pitchFamily="34" charset="0"/>
                <a:cs typeface="Times New Roman" panose="02020603050405020304" pitchFamily="18" charset="0"/>
              </a:rPr>
              <a:t>Customers Behavior And Inventory Analysis</a:t>
            </a:r>
          </a:p>
        </p:txBody>
      </p:sp>
      <p:sp>
        <p:nvSpPr>
          <p:cNvPr id="3" name="Content Placeholder 2">
            <a:extLst>
              <a:ext uri="{FF2B5EF4-FFF2-40B4-BE49-F238E27FC236}">
                <a16:creationId xmlns:a16="http://schemas.microsoft.com/office/drawing/2014/main" id="{1258AD9B-4A47-B6AC-9B74-679DF81B54F7}"/>
              </a:ext>
            </a:extLst>
          </p:cNvPr>
          <p:cNvSpPr>
            <a:spLocks noGrp="1"/>
          </p:cNvSpPr>
          <p:nvPr>
            <p:ph idx="1"/>
          </p:nvPr>
        </p:nvSpPr>
        <p:spPr/>
        <p:txBody>
          <a:bodyPr>
            <a:normAutofit fontScale="92500"/>
          </a:bodyPr>
          <a:lstStyle/>
          <a:p>
            <a:r>
              <a:rPr lang="en-US" dirty="0">
                <a:solidFill>
                  <a:srgbClr val="644C00"/>
                </a:solidFill>
                <a:latin typeface="Times New Roman" panose="02020603050405020304" pitchFamily="18" charset="0"/>
                <a:cs typeface="Times New Roman" panose="02020603050405020304" pitchFamily="18" charset="0"/>
              </a:rPr>
              <a:t>Customer retention is strong at </a:t>
            </a:r>
            <a:r>
              <a:rPr lang="en-US" b="1" dirty="0">
                <a:solidFill>
                  <a:srgbClr val="644C00"/>
                </a:solidFill>
                <a:latin typeface="Times New Roman" panose="02020603050405020304" pitchFamily="18" charset="0"/>
                <a:cs typeface="Times New Roman" panose="02020603050405020304" pitchFamily="18" charset="0"/>
              </a:rPr>
              <a:t>100% (500 repeat customers)</a:t>
            </a:r>
            <a:r>
              <a:rPr lang="en-US" dirty="0">
                <a:solidFill>
                  <a:srgbClr val="644C00"/>
                </a:solidFill>
                <a:latin typeface="Times New Roman" panose="02020603050405020304" pitchFamily="18" charset="0"/>
                <a:cs typeface="Times New Roman" panose="02020603050405020304" pitchFamily="18" charset="0"/>
              </a:rPr>
              <a:t>, showing high loyalty across all stores. The </a:t>
            </a:r>
            <a:r>
              <a:rPr lang="en-US" b="1" dirty="0">
                <a:solidFill>
                  <a:srgbClr val="644C00"/>
                </a:solidFill>
                <a:latin typeface="Times New Roman" panose="02020603050405020304" pitchFamily="18" charset="0"/>
                <a:cs typeface="Times New Roman" panose="02020603050405020304" pitchFamily="18" charset="0"/>
              </a:rPr>
              <a:t>18–25 and 50+ age groups generate the highest revenue (₦5.88M and ₦6.45M)</a:t>
            </a:r>
            <a:r>
              <a:rPr lang="en-US" dirty="0">
                <a:solidFill>
                  <a:srgbClr val="644C00"/>
                </a:solidFill>
                <a:latin typeface="Times New Roman" panose="02020603050405020304" pitchFamily="18" charset="0"/>
                <a:cs typeface="Times New Roman" panose="02020603050405020304" pitchFamily="18" charset="0"/>
              </a:rPr>
              <a:t>, with males contributing more revenue than females across all segments, especially in the younger group.</a:t>
            </a:r>
          </a:p>
          <a:p>
            <a:endParaRPr lang="en-US" dirty="0">
              <a:solidFill>
                <a:srgbClr val="644C00"/>
              </a:solidFill>
              <a:latin typeface="Times New Roman" panose="02020603050405020304" pitchFamily="18" charset="0"/>
              <a:cs typeface="Times New Roman" panose="02020603050405020304" pitchFamily="18" charset="0"/>
            </a:endParaRPr>
          </a:p>
          <a:p>
            <a:r>
              <a:rPr lang="en-US" dirty="0">
                <a:solidFill>
                  <a:srgbClr val="644C00"/>
                </a:solidFill>
                <a:latin typeface="Times New Roman" panose="02020603050405020304" pitchFamily="18" charset="0"/>
                <a:cs typeface="Times New Roman" panose="02020603050405020304" pitchFamily="18" charset="0"/>
              </a:rPr>
              <a:t>In terms of store retention, </a:t>
            </a:r>
            <a:r>
              <a:rPr lang="en-US" b="1" dirty="0">
                <a:solidFill>
                  <a:srgbClr val="644C00"/>
                </a:solidFill>
                <a:latin typeface="Times New Roman" panose="02020603050405020304" pitchFamily="18" charset="0"/>
                <a:cs typeface="Times New Roman" panose="02020603050405020304" pitchFamily="18" charset="0"/>
              </a:rPr>
              <a:t>Abuja Mall performs best overall</a:t>
            </a:r>
            <a:r>
              <a:rPr lang="en-US" dirty="0">
                <a:solidFill>
                  <a:srgbClr val="644C00"/>
                </a:solidFill>
                <a:latin typeface="Times New Roman" panose="02020603050405020304" pitchFamily="18" charset="0"/>
                <a:cs typeface="Times New Roman" panose="02020603050405020304" pitchFamily="18" charset="0"/>
              </a:rPr>
              <a:t>, followed by Kano Plaza, while Lagos Central and Port Harcourt Hub show lower retention levels, especially among younger customers. Overall, revenue is driven mainly by </a:t>
            </a:r>
            <a:r>
              <a:rPr lang="en-US" b="1" dirty="0">
                <a:solidFill>
                  <a:srgbClr val="644C00"/>
                </a:solidFill>
                <a:latin typeface="Times New Roman" panose="02020603050405020304" pitchFamily="18" charset="0"/>
                <a:cs typeface="Times New Roman" panose="02020603050405020304" pitchFamily="18" charset="0"/>
              </a:rPr>
              <a:t>key age groups and male customers</a:t>
            </a:r>
            <a:r>
              <a:rPr lang="en-US" dirty="0">
                <a:solidFill>
                  <a:srgbClr val="644C00"/>
                </a:solidFill>
                <a:latin typeface="Times New Roman" panose="02020603050405020304" pitchFamily="18" charset="0"/>
                <a:cs typeface="Times New Roman" panose="02020603050405020304" pitchFamily="18" charset="0"/>
              </a:rPr>
              <a:t>, while some stores need improved engagement strategies to strengthen retention and performance.</a:t>
            </a:r>
          </a:p>
          <a:p>
            <a:endParaRPr lang="en-US" dirty="0"/>
          </a:p>
        </p:txBody>
      </p:sp>
    </p:spTree>
    <p:extLst>
      <p:ext uri="{BB962C8B-B14F-4D97-AF65-F5344CB8AC3E}">
        <p14:creationId xmlns:p14="http://schemas.microsoft.com/office/powerpoint/2010/main" val="1095648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2305D-2228-4803-A7FA-3C727F0E7370}"/>
              </a:ext>
            </a:extLst>
          </p:cNvPr>
          <p:cNvSpPr>
            <a:spLocks noGrp="1"/>
          </p:cNvSpPr>
          <p:nvPr>
            <p:ph type="title"/>
          </p:nvPr>
        </p:nvSpPr>
        <p:spPr>
          <a:xfrm>
            <a:off x="838200" y="365125"/>
            <a:ext cx="10515600" cy="879475"/>
          </a:xfrm>
        </p:spPr>
        <p:txBody>
          <a:bodyPr>
            <a:normAutofit fontScale="90000"/>
          </a:bodyPr>
          <a:lstStyle/>
          <a:p>
            <a:pPr algn="ctr"/>
            <a:r>
              <a:rPr lang="en-US" sz="4000" b="1" dirty="0">
                <a:solidFill>
                  <a:srgbClr val="644C00"/>
                </a:solidFill>
                <a:latin typeface="Segoe UI Black" panose="020B0A02040204020203" pitchFamily="34" charset="0"/>
                <a:ea typeface="Segoe UI Black" panose="020B0A02040204020203" pitchFamily="34" charset="0"/>
              </a:rPr>
              <a:t>Product Recommendations</a:t>
            </a:r>
            <a:br>
              <a:rPr lang="en-US" sz="4000" b="1" dirty="0">
                <a:solidFill>
                  <a:srgbClr val="644C00"/>
                </a:solidFill>
                <a:latin typeface="Segoe UI Black" panose="020B0A02040204020203" pitchFamily="34" charset="0"/>
                <a:ea typeface="Segoe UI Black" panose="020B0A02040204020203" pitchFamily="34" charset="0"/>
              </a:rPr>
            </a:br>
            <a:endParaRPr lang="en-US" sz="4000" b="1" dirty="0">
              <a:solidFill>
                <a:srgbClr val="644C00"/>
              </a:solidFill>
              <a:latin typeface="Segoe UI Black" panose="020B0A02040204020203" pitchFamily="34" charset="0"/>
              <a:ea typeface="Segoe UI Black" panose="020B0A02040204020203" pitchFamily="34" charset="0"/>
            </a:endParaRPr>
          </a:p>
        </p:txBody>
      </p:sp>
      <p:sp>
        <p:nvSpPr>
          <p:cNvPr id="3" name="Content Placeholder 2">
            <a:extLst>
              <a:ext uri="{FF2B5EF4-FFF2-40B4-BE49-F238E27FC236}">
                <a16:creationId xmlns:a16="http://schemas.microsoft.com/office/drawing/2014/main" id="{DAE549CB-A427-B868-EAC6-D5E16ADBB0E4}"/>
              </a:ext>
            </a:extLst>
          </p:cNvPr>
          <p:cNvSpPr>
            <a:spLocks noGrp="1"/>
          </p:cNvSpPr>
          <p:nvPr>
            <p:ph idx="1"/>
          </p:nvPr>
        </p:nvSpPr>
        <p:spPr>
          <a:xfrm>
            <a:off x="838200" y="1028700"/>
            <a:ext cx="10515600" cy="5148263"/>
          </a:xfrm>
        </p:spPr>
        <p:txBody>
          <a:bodyPr>
            <a:normAutofit/>
          </a:bodyPr>
          <a:lstStyle/>
          <a:p>
            <a:r>
              <a:rPr lang="en-US" dirty="0">
                <a:solidFill>
                  <a:srgbClr val="644C00"/>
                </a:solidFill>
                <a:latin typeface="Times New Roman" panose="02020603050405020304" pitchFamily="18" charset="0"/>
                <a:cs typeface="Times New Roman" panose="02020603050405020304" pitchFamily="18" charset="0"/>
              </a:rPr>
              <a:t>Products are generating high revenue but suffering from </a:t>
            </a:r>
            <a:r>
              <a:rPr lang="en-US" b="1" dirty="0">
                <a:solidFill>
                  <a:srgbClr val="644C00"/>
                </a:solidFill>
                <a:latin typeface="Times New Roman" panose="02020603050405020304" pitchFamily="18" charset="0"/>
                <a:cs typeface="Times New Roman" panose="02020603050405020304" pitchFamily="18" charset="0"/>
              </a:rPr>
              <a:t>profit loss due to excessive discounts and selling below cost price</a:t>
            </a:r>
            <a:r>
              <a:rPr lang="en-US" dirty="0">
                <a:solidFill>
                  <a:srgbClr val="644C00"/>
                </a:solidFill>
                <a:latin typeface="Times New Roman" panose="02020603050405020304" pitchFamily="18" charset="0"/>
                <a:cs typeface="Times New Roman" panose="02020603050405020304" pitchFamily="18" charset="0"/>
              </a:rPr>
              <a:t>.</a:t>
            </a:r>
          </a:p>
          <a:p>
            <a:br>
              <a:rPr lang="en-US" dirty="0">
                <a:solidFill>
                  <a:srgbClr val="644C00"/>
                </a:solidFill>
                <a:latin typeface="Times New Roman" panose="02020603050405020304" pitchFamily="18" charset="0"/>
                <a:cs typeface="Times New Roman" panose="02020603050405020304" pitchFamily="18" charset="0"/>
              </a:rPr>
            </a:br>
            <a:r>
              <a:rPr lang="en-US" dirty="0">
                <a:solidFill>
                  <a:srgbClr val="644C00"/>
                </a:solidFill>
                <a:latin typeface="Times New Roman" panose="02020603050405020304" pitchFamily="18" charset="0"/>
                <a:cs typeface="Times New Roman" panose="02020603050405020304" pitchFamily="18" charset="0"/>
              </a:rPr>
              <a:t>The business should </a:t>
            </a:r>
            <a:r>
              <a:rPr lang="en-US" b="1" dirty="0">
                <a:solidFill>
                  <a:srgbClr val="644C00"/>
                </a:solidFill>
                <a:latin typeface="Times New Roman" panose="02020603050405020304" pitchFamily="18" charset="0"/>
                <a:cs typeface="Times New Roman" panose="02020603050405020304" pitchFamily="18" charset="0"/>
              </a:rPr>
              <a:t>review pricing strategy</a:t>
            </a:r>
            <a:r>
              <a:rPr lang="en-US" dirty="0">
                <a:solidFill>
                  <a:srgbClr val="644C00"/>
                </a:solidFill>
                <a:latin typeface="Times New Roman" panose="02020603050405020304" pitchFamily="18" charset="0"/>
                <a:cs typeface="Times New Roman" panose="02020603050405020304" pitchFamily="18" charset="0"/>
              </a:rPr>
              <a:t>, especially for loss-making items like red velvet cake, truffle chocolate, white chocolate, muffins, and some snacks.</a:t>
            </a:r>
          </a:p>
          <a:p>
            <a:r>
              <a:rPr lang="en-US" dirty="0">
                <a:solidFill>
                  <a:srgbClr val="644C00"/>
                </a:solidFill>
                <a:latin typeface="Times New Roman" panose="02020603050405020304" pitchFamily="18" charset="0"/>
                <a:cs typeface="Times New Roman" panose="02020603050405020304" pitchFamily="18" charset="0"/>
              </a:rPr>
              <a:t> Discounts should be </a:t>
            </a:r>
            <a:r>
              <a:rPr lang="en-US" b="1" dirty="0">
                <a:solidFill>
                  <a:srgbClr val="644C00"/>
                </a:solidFill>
                <a:latin typeface="Times New Roman" panose="02020603050405020304" pitchFamily="18" charset="0"/>
                <a:cs typeface="Times New Roman" panose="02020603050405020304" pitchFamily="18" charset="0"/>
              </a:rPr>
              <a:t>controlled and targeted</a:t>
            </a:r>
            <a:r>
              <a:rPr lang="en-US" dirty="0">
                <a:solidFill>
                  <a:srgbClr val="644C00"/>
                </a:solidFill>
                <a:latin typeface="Times New Roman" panose="02020603050405020304" pitchFamily="18" charset="0"/>
                <a:cs typeface="Times New Roman" panose="02020603050405020304" pitchFamily="18" charset="0"/>
              </a:rPr>
              <a:t>, not applied across all products. Focus should shift to </a:t>
            </a:r>
            <a:r>
              <a:rPr lang="en-US" b="1" dirty="0">
                <a:solidFill>
                  <a:srgbClr val="644C00"/>
                </a:solidFill>
                <a:latin typeface="Times New Roman" panose="02020603050405020304" pitchFamily="18" charset="0"/>
                <a:cs typeface="Times New Roman" panose="02020603050405020304" pitchFamily="18" charset="0"/>
              </a:rPr>
              <a:t>high-margin products (cakes, pastries, dark chocolate, croissants, eclairs)</a:t>
            </a:r>
            <a:r>
              <a:rPr lang="en-US" dirty="0">
                <a:solidFill>
                  <a:srgbClr val="644C00"/>
                </a:solidFill>
                <a:latin typeface="Times New Roman" panose="02020603050405020304" pitchFamily="18" charset="0"/>
                <a:cs typeface="Times New Roman" panose="02020603050405020304" pitchFamily="18" charset="0"/>
              </a:rPr>
              <a:t> while phasing out or reformulating consistently loss-making items.</a:t>
            </a:r>
          </a:p>
          <a:p>
            <a:endParaRPr lang="en-US" b="1" dirty="0">
              <a:solidFill>
                <a:srgbClr val="644C00"/>
              </a:solidFill>
            </a:endParaRPr>
          </a:p>
        </p:txBody>
      </p:sp>
    </p:spTree>
    <p:extLst>
      <p:ext uri="{BB962C8B-B14F-4D97-AF65-F5344CB8AC3E}">
        <p14:creationId xmlns:p14="http://schemas.microsoft.com/office/powerpoint/2010/main" val="3733098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584E023-670B-69F7-E342-1568C30EE342}"/>
              </a:ext>
            </a:extLst>
          </p:cNvPr>
          <p:cNvSpPr>
            <a:spLocks noGrp="1" noChangeArrowheads="1"/>
          </p:cNvSpPr>
          <p:nvPr>
            <p:ph idx="1"/>
          </p:nvPr>
        </p:nvSpPr>
        <p:spPr bwMode="auto">
          <a:xfrm>
            <a:off x="304800" y="1166050"/>
            <a:ext cx="11049000" cy="3765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2400" b="1" dirty="0"/>
          </a:p>
          <a:p>
            <a:r>
              <a:rPr lang="en-US" dirty="0">
                <a:solidFill>
                  <a:srgbClr val="644C00"/>
                </a:solidFill>
                <a:latin typeface="Times New Roman" panose="02020603050405020304" pitchFamily="18" charset="0"/>
                <a:cs typeface="Times New Roman" panose="02020603050405020304" pitchFamily="18" charset="0"/>
              </a:rPr>
              <a:t>Customer retention is strong (100%), but revenue is heavily driven by </a:t>
            </a:r>
            <a:r>
              <a:rPr lang="en-US" b="1" dirty="0">
                <a:solidFill>
                  <a:srgbClr val="644C00"/>
                </a:solidFill>
                <a:latin typeface="Times New Roman" panose="02020603050405020304" pitchFamily="18" charset="0"/>
                <a:cs typeface="Times New Roman" panose="02020603050405020304" pitchFamily="18" charset="0"/>
              </a:rPr>
              <a:t>few age groups and male customers</a:t>
            </a:r>
            <a:r>
              <a:rPr lang="en-US" dirty="0">
                <a:solidFill>
                  <a:srgbClr val="644C00"/>
                </a:solidFill>
                <a:latin typeface="Times New Roman" panose="02020603050405020304" pitchFamily="18" charset="0"/>
                <a:cs typeface="Times New Roman" panose="02020603050405020304" pitchFamily="18" charset="0"/>
              </a:rPr>
              <a:t>, especially ages 18–25 and 36–50.</a:t>
            </a:r>
          </a:p>
          <a:p>
            <a:pPr marL="0" indent="0">
              <a:buNone/>
            </a:pPr>
            <a:br>
              <a:rPr lang="en-US" dirty="0">
                <a:solidFill>
                  <a:srgbClr val="644C00"/>
                </a:solidFill>
                <a:latin typeface="Times New Roman" panose="02020603050405020304" pitchFamily="18" charset="0"/>
                <a:cs typeface="Times New Roman" panose="02020603050405020304" pitchFamily="18" charset="0"/>
              </a:rPr>
            </a:br>
            <a:r>
              <a:rPr lang="en-US" dirty="0">
                <a:solidFill>
                  <a:srgbClr val="644C00"/>
                </a:solidFill>
                <a:latin typeface="Times New Roman" panose="02020603050405020304" pitchFamily="18" charset="0"/>
                <a:cs typeface="Times New Roman" panose="02020603050405020304" pitchFamily="18" charset="0"/>
              </a:rPr>
              <a:t>The business should create </a:t>
            </a:r>
            <a:r>
              <a:rPr lang="en-US" b="1" dirty="0">
                <a:solidFill>
                  <a:srgbClr val="644C00"/>
                </a:solidFill>
                <a:latin typeface="Times New Roman" panose="02020603050405020304" pitchFamily="18" charset="0"/>
                <a:cs typeface="Times New Roman" panose="02020603050405020304" pitchFamily="18" charset="0"/>
              </a:rPr>
              <a:t>targeted promotions for underperforming segments (female customers and older age groups in low-engagement stores)</a:t>
            </a:r>
            <a:r>
              <a:rPr lang="en-US" dirty="0">
                <a:solidFill>
                  <a:srgbClr val="644C00"/>
                </a:solidFill>
                <a:latin typeface="Times New Roman" panose="02020603050405020304" pitchFamily="18" charset="0"/>
                <a:cs typeface="Times New Roman" panose="02020603050405020304" pitchFamily="18" charset="0"/>
              </a:rPr>
              <a:t>. Loyalty programs can be introduced to maintain retention while increasing </a:t>
            </a:r>
            <a:r>
              <a:rPr lang="en-US" b="1" dirty="0">
                <a:solidFill>
                  <a:srgbClr val="644C00"/>
                </a:solidFill>
                <a:latin typeface="Times New Roman" panose="02020603050405020304" pitchFamily="18" charset="0"/>
                <a:cs typeface="Times New Roman" panose="02020603050405020304" pitchFamily="18" charset="0"/>
              </a:rPr>
              <a:t>purchase frequency and average order value</a:t>
            </a:r>
            <a:r>
              <a:rPr lang="en-US" dirty="0">
                <a:solidFill>
                  <a:srgbClr val="644C00"/>
                </a:solidFill>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644C00"/>
              </a:solidFill>
              <a:effectLst/>
              <a:latin typeface="Times New Roman" panose="02020603050405020304" pitchFamily="18" charset="0"/>
              <a:cs typeface="Times New Roman" panose="02020603050405020304" pitchFamily="18" charset="0"/>
            </a:endParaRPr>
          </a:p>
        </p:txBody>
      </p:sp>
      <p:sp>
        <p:nvSpPr>
          <p:cNvPr id="6" name="Title 5">
            <a:extLst>
              <a:ext uri="{FF2B5EF4-FFF2-40B4-BE49-F238E27FC236}">
                <a16:creationId xmlns:a16="http://schemas.microsoft.com/office/drawing/2014/main" id="{36CB0407-643C-FFE4-7C59-031644F94FD2}"/>
              </a:ext>
            </a:extLst>
          </p:cNvPr>
          <p:cNvSpPr>
            <a:spLocks noGrp="1"/>
          </p:cNvSpPr>
          <p:nvPr>
            <p:ph type="title"/>
          </p:nvPr>
        </p:nvSpPr>
        <p:spPr/>
        <p:txBody>
          <a:bodyPr/>
          <a:lstStyle/>
          <a:p>
            <a:r>
              <a:rPr lang="en-US" sz="3600" b="1" dirty="0">
                <a:solidFill>
                  <a:srgbClr val="644C00"/>
                </a:solidFill>
                <a:latin typeface="Segoe UI Black" panose="020B0A02040204020203" pitchFamily="34" charset="0"/>
                <a:ea typeface="Segoe UI Black" panose="020B0A02040204020203" pitchFamily="34" charset="0"/>
              </a:rPr>
              <a:t>Customer Recommendations</a:t>
            </a:r>
            <a:br>
              <a:rPr lang="en-US" b="1" dirty="0">
                <a:solidFill>
                  <a:srgbClr val="644C00"/>
                </a:solidFill>
                <a:latin typeface="Segoe UI Black" panose="020B0A02040204020203" pitchFamily="34" charset="0"/>
                <a:ea typeface="Segoe UI Black" panose="020B0A02040204020203" pitchFamily="34" charset="0"/>
              </a:rPr>
            </a:br>
            <a:endParaRPr lang="en-US" b="1" dirty="0">
              <a:solidFill>
                <a:srgbClr val="644C00"/>
              </a:solidFill>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3386231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B0F31-FF3F-42A0-17FA-D4B2E498A4A6}"/>
              </a:ext>
            </a:extLst>
          </p:cNvPr>
          <p:cNvSpPr>
            <a:spLocks noGrp="1"/>
          </p:cNvSpPr>
          <p:nvPr>
            <p:ph type="title"/>
          </p:nvPr>
        </p:nvSpPr>
        <p:spPr/>
        <p:txBody>
          <a:bodyPr/>
          <a:lstStyle/>
          <a:p>
            <a:r>
              <a:rPr lang="en-US" b="1" dirty="0">
                <a:solidFill>
                  <a:srgbClr val="644C00"/>
                </a:solidFill>
                <a:latin typeface="Segoe UI Black" panose="020B0A02040204020203" pitchFamily="34" charset="0"/>
                <a:ea typeface="Segoe UI Black" panose="020B0A02040204020203" pitchFamily="34" charset="0"/>
              </a:rPr>
              <a:t>Store Recommendations</a:t>
            </a:r>
            <a:br>
              <a:rPr lang="en-US" b="1" dirty="0"/>
            </a:br>
            <a:endParaRPr lang="en-US" dirty="0"/>
          </a:p>
        </p:txBody>
      </p:sp>
      <p:sp>
        <p:nvSpPr>
          <p:cNvPr id="3" name="Content Placeholder 2">
            <a:extLst>
              <a:ext uri="{FF2B5EF4-FFF2-40B4-BE49-F238E27FC236}">
                <a16:creationId xmlns:a16="http://schemas.microsoft.com/office/drawing/2014/main" id="{F3EE730D-4628-3813-43A5-5F21F645A647}"/>
              </a:ext>
            </a:extLst>
          </p:cNvPr>
          <p:cNvSpPr>
            <a:spLocks noGrp="1"/>
          </p:cNvSpPr>
          <p:nvPr>
            <p:ph idx="1"/>
          </p:nvPr>
        </p:nvSpPr>
        <p:spPr/>
        <p:txBody>
          <a:bodyPr/>
          <a:lstStyle/>
          <a:p>
            <a:pPr marL="0" indent="0">
              <a:buNone/>
            </a:pPr>
            <a:r>
              <a:rPr lang="en-US" dirty="0">
                <a:solidFill>
                  <a:srgbClr val="644C00"/>
                </a:solidFill>
                <a:latin typeface="Times New Roman" panose="02020603050405020304" pitchFamily="18" charset="0"/>
                <a:cs typeface="Times New Roman" panose="02020603050405020304" pitchFamily="18" charset="0"/>
              </a:rPr>
              <a:t>Abuja Mall and Kano Plaza are strong in revenue but suffer from </a:t>
            </a:r>
            <a:r>
              <a:rPr lang="en-US" b="1" dirty="0">
                <a:solidFill>
                  <a:srgbClr val="644C00"/>
                </a:solidFill>
                <a:latin typeface="Times New Roman" panose="02020603050405020304" pitchFamily="18" charset="0"/>
                <a:cs typeface="Times New Roman" panose="02020603050405020304" pitchFamily="18" charset="0"/>
              </a:rPr>
              <a:t>over-discounting</a:t>
            </a:r>
            <a:r>
              <a:rPr lang="en-US" dirty="0">
                <a:solidFill>
                  <a:srgbClr val="644C00"/>
                </a:solidFill>
                <a:latin typeface="Times New Roman" panose="02020603050405020304" pitchFamily="18" charset="0"/>
                <a:cs typeface="Times New Roman" panose="02020603050405020304" pitchFamily="18" charset="0"/>
              </a:rPr>
              <a:t>, while Lagos Central shows </a:t>
            </a:r>
            <a:r>
              <a:rPr lang="en-US" b="1" dirty="0">
                <a:solidFill>
                  <a:srgbClr val="644C00"/>
                </a:solidFill>
                <a:latin typeface="Times New Roman" panose="02020603050405020304" pitchFamily="18" charset="0"/>
                <a:cs typeface="Times New Roman" panose="02020603050405020304" pitchFamily="18" charset="0"/>
              </a:rPr>
              <a:t>low profit efficiency</a:t>
            </a:r>
            <a:r>
              <a:rPr lang="en-US" dirty="0">
                <a:solidFill>
                  <a:srgbClr val="644C00"/>
                </a:solidFill>
                <a:latin typeface="Times New Roman" panose="02020603050405020304" pitchFamily="18" charset="0"/>
                <a:cs typeface="Times New Roman" panose="02020603050405020304" pitchFamily="18" charset="0"/>
              </a:rPr>
              <a:t>, and Port Harcourt Hub has </a:t>
            </a:r>
            <a:r>
              <a:rPr lang="en-US" b="1" dirty="0">
                <a:solidFill>
                  <a:srgbClr val="644C00"/>
                </a:solidFill>
                <a:latin typeface="Times New Roman" panose="02020603050405020304" pitchFamily="18" charset="0"/>
                <a:cs typeface="Times New Roman" panose="02020603050405020304" pitchFamily="18" charset="0"/>
              </a:rPr>
              <a:t>low sales volume</a:t>
            </a:r>
            <a:r>
              <a:rPr lang="en-US" dirty="0">
                <a:solidFill>
                  <a:srgbClr val="644C00"/>
                </a:solidFill>
                <a:latin typeface="Times New Roman" panose="02020603050405020304" pitchFamily="18" charset="0"/>
                <a:cs typeface="Times New Roman" panose="02020603050405020304" pitchFamily="18" charset="0"/>
              </a:rPr>
              <a:t>.</a:t>
            </a:r>
          </a:p>
          <a:p>
            <a:pPr marL="0" indent="0">
              <a:buNone/>
            </a:pPr>
            <a:br>
              <a:rPr lang="en-US" dirty="0">
                <a:solidFill>
                  <a:srgbClr val="644C00"/>
                </a:solidFill>
                <a:latin typeface="Times New Roman" panose="02020603050405020304" pitchFamily="18" charset="0"/>
                <a:cs typeface="Times New Roman" panose="02020603050405020304" pitchFamily="18" charset="0"/>
              </a:rPr>
            </a:br>
            <a:r>
              <a:rPr lang="en-US" dirty="0">
                <a:solidFill>
                  <a:srgbClr val="644C00"/>
                </a:solidFill>
                <a:latin typeface="Times New Roman" panose="02020603050405020304" pitchFamily="18" charset="0"/>
                <a:cs typeface="Times New Roman" panose="02020603050405020304" pitchFamily="18" charset="0"/>
              </a:rPr>
              <a:t>Stores should adopt a </a:t>
            </a:r>
            <a:r>
              <a:rPr lang="en-US" b="1" dirty="0">
                <a:solidFill>
                  <a:srgbClr val="644C00"/>
                </a:solidFill>
                <a:latin typeface="Times New Roman" panose="02020603050405020304" pitchFamily="18" charset="0"/>
                <a:cs typeface="Times New Roman" panose="02020603050405020304" pitchFamily="18" charset="0"/>
              </a:rPr>
              <a:t>standardized discount policy</a:t>
            </a:r>
            <a:r>
              <a:rPr lang="en-US" dirty="0">
                <a:solidFill>
                  <a:srgbClr val="644C00"/>
                </a:solidFill>
                <a:latin typeface="Times New Roman" panose="02020603050405020304" pitchFamily="18" charset="0"/>
                <a:cs typeface="Times New Roman" panose="02020603050405020304" pitchFamily="18" charset="0"/>
              </a:rPr>
              <a:t> to prevent profit leakage. Lagos Central needs </a:t>
            </a:r>
            <a:r>
              <a:rPr lang="en-US" b="1" dirty="0">
                <a:solidFill>
                  <a:srgbClr val="644C00"/>
                </a:solidFill>
                <a:latin typeface="Times New Roman" panose="02020603050405020304" pitchFamily="18" charset="0"/>
                <a:cs typeface="Times New Roman" panose="02020603050405020304" pitchFamily="18" charset="0"/>
              </a:rPr>
              <a:t>profit improvement strategies</a:t>
            </a:r>
            <a:r>
              <a:rPr lang="en-US" dirty="0">
                <a:solidFill>
                  <a:srgbClr val="644C00"/>
                </a:solidFill>
                <a:latin typeface="Times New Roman" panose="02020603050405020304" pitchFamily="18" charset="0"/>
                <a:cs typeface="Times New Roman" panose="02020603050405020304" pitchFamily="18" charset="0"/>
              </a:rPr>
              <a:t>, while Port Harcourt Hub requires </a:t>
            </a:r>
            <a:r>
              <a:rPr lang="en-US" b="1" dirty="0">
                <a:solidFill>
                  <a:srgbClr val="644C00"/>
                </a:solidFill>
                <a:latin typeface="Times New Roman" panose="02020603050405020304" pitchFamily="18" charset="0"/>
                <a:cs typeface="Times New Roman" panose="02020603050405020304" pitchFamily="18" charset="0"/>
              </a:rPr>
              <a:t>marketing and demand generation campaigns</a:t>
            </a:r>
            <a:r>
              <a:rPr lang="en-US" dirty="0">
                <a:solidFill>
                  <a:srgbClr val="644C00"/>
                </a:solidFill>
                <a:latin typeface="Times New Roman" panose="02020603050405020304" pitchFamily="18" charset="0"/>
                <a:cs typeface="Times New Roman" panose="02020603050405020304" pitchFamily="18" charset="0"/>
              </a:rPr>
              <a:t> to increase customer traffic and sales volume.</a:t>
            </a:r>
          </a:p>
          <a:p>
            <a:endParaRPr lang="en-US" dirty="0"/>
          </a:p>
        </p:txBody>
      </p:sp>
    </p:spTree>
    <p:extLst>
      <p:ext uri="{BB962C8B-B14F-4D97-AF65-F5344CB8AC3E}">
        <p14:creationId xmlns:p14="http://schemas.microsoft.com/office/powerpoint/2010/main" val="3070312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A5E38-2B9D-CFEE-9763-2E657872CB92}"/>
              </a:ext>
            </a:extLst>
          </p:cNvPr>
          <p:cNvSpPr>
            <a:spLocks noGrp="1"/>
          </p:cNvSpPr>
          <p:nvPr>
            <p:ph type="title"/>
          </p:nvPr>
        </p:nvSpPr>
        <p:spPr>
          <a:xfrm>
            <a:off x="838200" y="365125"/>
            <a:ext cx="10515600" cy="1019175"/>
          </a:xfrm>
        </p:spPr>
        <p:txBody>
          <a:bodyPr>
            <a:normAutofit fontScale="90000"/>
          </a:bodyPr>
          <a:lstStyle/>
          <a:p>
            <a:pPr algn="ctr"/>
            <a:r>
              <a:rPr lang="en-US" sz="3600" b="1" dirty="0">
                <a:solidFill>
                  <a:srgbClr val="644C00"/>
                </a:solidFill>
                <a:latin typeface="Segoe UI Black" panose="020B0A02040204020203" pitchFamily="34" charset="0"/>
                <a:ea typeface="Segoe UI Black" panose="020B0A02040204020203" pitchFamily="34" charset="0"/>
              </a:rPr>
              <a:t>Category Recommendations</a:t>
            </a:r>
            <a:br>
              <a:rPr lang="en-US" b="1" dirty="0"/>
            </a:br>
            <a:endParaRPr lang="en-US" dirty="0"/>
          </a:p>
        </p:txBody>
      </p:sp>
      <p:sp>
        <p:nvSpPr>
          <p:cNvPr id="3" name="Content Placeholder 2">
            <a:extLst>
              <a:ext uri="{FF2B5EF4-FFF2-40B4-BE49-F238E27FC236}">
                <a16:creationId xmlns:a16="http://schemas.microsoft.com/office/drawing/2014/main" id="{9E1FEF83-11B9-39FE-89E0-C6DFAA5D9522}"/>
              </a:ext>
            </a:extLst>
          </p:cNvPr>
          <p:cNvSpPr>
            <a:spLocks noGrp="1"/>
          </p:cNvSpPr>
          <p:nvPr>
            <p:ph idx="1"/>
          </p:nvPr>
        </p:nvSpPr>
        <p:spPr>
          <a:xfrm>
            <a:off x="1104900" y="1384300"/>
            <a:ext cx="10515600" cy="4351338"/>
          </a:xfrm>
        </p:spPr>
        <p:txBody>
          <a:bodyPr/>
          <a:lstStyle/>
          <a:p>
            <a:pPr marL="0" indent="0">
              <a:buNone/>
            </a:pPr>
            <a:r>
              <a:rPr lang="en-US" dirty="0">
                <a:solidFill>
                  <a:srgbClr val="644C00"/>
                </a:solidFill>
                <a:latin typeface="Times New Roman" panose="02020603050405020304" pitchFamily="18" charset="0"/>
                <a:cs typeface="Times New Roman" panose="02020603050405020304" pitchFamily="18" charset="0"/>
              </a:rPr>
              <a:t>All four categories (cakes, chocolates, pastries, snacks) generate revenue, but profitability is uneven due to </a:t>
            </a:r>
            <a:r>
              <a:rPr lang="en-US" b="1" dirty="0">
                <a:solidFill>
                  <a:srgbClr val="644C00"/>
                </a:solidFill>
                <a:latin typeface="Times New Roman" panose="02020603050405020304" pitchFamily="18" charset="0"/>
                <a:cs typeface="Times New Roman" panose="02020603050405020304" pitchFamily="18" charset="0"/>
              </a:rPr>
              <a:t>poor pricing control in certain products within each category</a:t>
            </a:r>
            <a:r>
              <a:rPr lang="en-US" dirty="0">
                <a:solidFill>
                  <a:srgbClr val="644C00"/>
                </a:solidFill>
                <a:latin typeface="Times New Roman" panose="02020603050405020304" pitchFamily="18" charset="0"/>
                <a:cs typeface="Times New Roman" panose="02020603050405020304" pitchFamily="18" charset="0"/>
              </a:rPr>
              <a:t>.</a:t>
            </a:r>
          </a:p>
          <a:p>
            <a:pPr marL="0" indent="0">
              <a:buNone/>
            </a:pPr>
            <a:br>
              <a:rPr lang="en-US" dirty="0">
                <a:solidFill>
                  <a:srgbClr val="644C00"/>
                </a:solidFill>
                <a:latin typeface="Times New Roman" panose="02020603050405020304" pitchFamily="18" charset="0"/>
                <a:cs typeface="Times New Roman" panose="02020603050405020304" pitchFamily="18" charset="0"/>
              </a:rPr>
            </a:br>
            <a:r>
              <a:rPr lang="en-US" dirty="0">
                <a:solidFill>
                  <a:srgbClr val="644C00"/>
                </a:solidFill>
                <a:latin typeface="Times New Roman" panose="02020603050405020304" pitchFamily="18" charset="0"/>
                <a:cs typeface="Times New Roman" panose="02020603050405020304" pitchFamily="18" charset="0"/>
              </a:rPr>
              <a:t>Cakes and pastries are the </a:t>
            </a:r>
            <a:r>
              <a:rPr lang="en-US" b="1" dirty="0">
                <a:solidFill>
                  <a:srgbClr val="644C00"/>
                </a:solidFill>
                <a:latin typeface="Times New Roman" panose="02020603050405020304" pitchFamily="18" charset="0"/>
                <a:cs typeface="Times New Roman" panose="02020603050405020304" pitchFamily="18" charset="0"/>
              </a:rPr>
              <a:t>best performing categories</a:t>
            </a:r>
            <a:r>
              <a:rPr lang="en-US" dirty="0">
                <a:solidFill>
                  <a:srgbClr val="644C00"/>
                </a:solidFill>
                <a:latin typeface="Times New Roman" panose="02020603050405020304" pitchFamily="18" charset="0"/>
                <a:cs typeface="Times New Roman" panose="02020603050405020304" pitchFamily="18" charset="0"/>
              </a:rPr>
              <a:t>, while chocolates and snacks suffer losses due to discounts and underpricing. The business should </a:t>
            </a:r>
            <a:r>
              <a:rPr lang="en-US" b="1" dirty="0">
                <a:solidFill>
                  <a:srgbClr val="644C00"/>
                </a:solidFill>
                <a:latin typeface="Times New Roman" panose="02020603050405020304" pitchFamily="18" charset="0"/>
                <a:cs typeface="Times New Roman" panose="02020603050405020304" pitchFamily="18" charset="0"/>
              </a:rPr>
              <a:t>focus investment on high-performing categories</a:t>
            </a:r>
            <a:r>
              <a:rPr lang="en-US" dirty="0">
                <a:solidFill>
                  <a:srgbClr val="644C00"/>
                </a:solidFill>
                <a:latin typeface="Times New Roman" panose="02020603050405020304" pitchFamily="18" charset="0"/>
                <a:cs typeface="Times New Roman" panose="02020603050405020304" pitchFamily="18" charset="0"/>
              </a:rPr>
              <a:t>, reduce discounts on weak products, and optimize product mix within each category.</a:t>
            </a:r>
          </a:p>
          <a:p>
            <a:endParaRPr lang="en-US" dirty="0"/>
          </a:p>
        </p:txBody>
      </p:sp>
    </p:spTree>
    <p:extLst>
      <p:ext uri="{BB962C8B-B14F-4D97-AF65-F5344CB8AC3E}">
        <p14:creationId xmlns:p14="http://schemas.microsoft.com/office/powerpoint/2010/main" val="2638459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98BD4-8B43-A230-1201-A2EFA8FBD21D}"/>
              </a:ext>
            </a:extLst>
          </p:cNvPr>
          <p:cNvSpPr>
            <a:spLocks noGrp="1"/>
          </p:cNvSpPr>
          <p:nvPr>
            <p:ph type="title"/>
          </p:nvPr>
        </p:nvSpPr>
        <p:spPr>
          <a:xfrm>
            <a:off x="838200" y="1"/>
            <a:ext cx="10515600" cy="681036"/>
          </a:xfrm>
        </p:spPr>
        <p:txBody>
          <a:bodyPr>
            <a:normAutofit/>
          </a:bodyPr>
          <a:lstStyle/>
          <a:p>
            <a:pPr algn="ctr"/>
            <a:r>
              <a:rPr lang="en-US" sz="3600" b="1" dirty="0">
                <a:solidFill>
                  <a:srgbClr val="644C00"/>
                </a:solidFill>
                <a:latin typeface="Segoe UI Black" panose="020B0A02040204020203" pitchFamily="34" charset="0"/>
                <a:ea typeface="Segoe UI Black" panose="020B0A02040204020203" pitchFamily="34" charset="0"/>
              </a:rPr>
              <a:t>Conclusion</a:t>
            </a:r>
          </a:p>
        </p:txBody>
      </p:sp>
      <p:sp>
        <p:nvSpPr>
          <p:cNvPr id="3" name="Content Placeholder 2">
            <a:extLst>
              <a:ext uri="{FF2B5EF4-FFF2-40B4-BE49-F238E27FC236}">
                <a16:creationId xmlns:a16="http://schemas.microsoft.com/office/drawing/2014/main" id="{06EAD7B6-F889-A427-08A0-5887FC4CB078}"/>
              </a:ext>
            </a:extLst>
          </p:cNvPr>
          <p:cNvSpPr>
            <a:spLocks noGrp="1"/>
          </p:cNvSpPr>
          <p:nvPr>
            <p:ph idx="1"/>
          </p:nvPr>
        </p:nvSpPr>
        <p:spPr>
          <a:xfrm>
            <a:off x="838200" y="681038"/>
            <a:ext cx="10515600" cy="5495926"/>
          </a:xfrm>
        </p:spPr>
        <p:txBody>
          <a:bodyPr>
            <a:normAutofit fontScale="77500" lnSpcReduction="20000"/>
          </a:bodyPr>
          <a:lstStyle/>
          <a:p>
            <a:endParaRPr lang="en-US" dirty="0">
              <a:solidFill>
                <a:srgbClr val="644C00"/>
              </a:solidFill>
              <a:latin typeface="Times New Roman" panose="02020603050405020304" pitchFamily="18" charset="0"/>
              <a:cs typeface="Times New Roman" panose="02020603050405020304" pitchFamily="18" charset="0"/>
            </a:endParaRPr>
          </a:p>
          <a:p>
            <a:r>
              <a:rPr lang="en-US" sz="3100" dirty="0">
                <a:solidFill>
                  <a:srgbClr val="644C00"/>
                </a:solidFill>
                <a:latin typeface="Times New Roman" panose="02020603050405020304" pitchFamily="18" charset="0"/>
                <a:cs typeface="Times New Roman" panose="02020603050405020304" pitchFamily="18" charset="0"/>
              </a:rPr>
              <a:t>The business recorded strong performance with </a:t>
            </a:r>
            <a:r>
              <a:rPr lang="en-US" sz="3100" b="1" dirty="0">
                <a:solidFill>
                  <a:srgbClr val="644C00"/>
                </a:solidFill>
                <a:latin typeface="Times New Roman" panose="02020603050405020304" pitchFamily="18" charset="0"/>
                <a:cs typeface="Times New Roman" panose="02020603050405020304" pitchFamily="18" charset="0"/>
              </a:rPr>
              <a:t>₦23M revenue, 8,000 units sold, and a 13.87% profit margin</a:t>
            </a:r>
            <a:r>
              <a:rPr lang="en-US" sz="3100" dirty="0">
                <a:solidFill>
                  <a:srgbClr val="644C00"/>
                </a:solidFill>
                <a:latin typeface="Times New Roman" panose="02020603050405020304" pitchFamily="18" charset="0"/>
                <a:cs typeface="Times New Roman" panose="02020603050405020304" pitchFamily="18" charset="0"/>
              </a:rPr>
              <a:t>, showing good market demand. However, performance was inconsistent across months, with a peak in January followed by fluctuations due to seasonal changes and pricing effects.</a:t>
            </a:r>
          </a:p>
          <a:p>
            <a:endParaRPr lang="en-US" sz="3100" dirty="0">
              <a:solidFill>
                <a:srgbClr val="644C00"/>
              </a:solidFill>
              <a:latin typeface="Times New Roman" panose="02020603050405020304" pitchFamily="18" charset="0"/>
              <a:cs typeface="Times New Roman" panose="02020603050405020304" pitchFamily="18" charset="0"/>
            </a:endParaRPr>
          </a:p>
          <a:p>
            <a:r>
              <a:rPr lang="en-US" sz="3100" dirty="0">
                <a:solidFill>
                  <a:srgbClr val="644C00"/>
                </a:solidFill>
                <a:latin typeface="Times New Roman" panose="02020603050405020304" pitchFamily="18" charset="0"/>
                <a:cs typeface="Times New Roman" panose="02020603050405020304" pitchFamily="18" charset="0"/>
              </a:rPr>
              <a:t>At the store level, </a:t>
            </a:r>
            <a:r>
              <a:rPr lang="en-US" sz="3100" b="1" dirty="0">
                <a:solidFill>
                  <a:srgbClr val="644C00"/>
                </a:solidFill>
                <a:latin typeface="Times New Roman" panose="02020603050405020304" pitchFamily="18" charset="0"/>
                <a:cs typeface="Times New Roman" panose="02020603050405020304" pitchFamily="18" charset="0"/>
              </a:rPr>
              <a:t>Abuja Mall and Kano Plaza performed best</a:t>
            </a:r>
            <a:r>
              <a:rPr lang="en-US" sz="3100" dirty="0">
                <a:solidFill>
                  <a:srgbClr val="644C00"/>
                </a:solidFill>
                <a:latin typeface="Times New Roman" panose="02020603050405020304" pitchFamily="18" charset="0"/>
                <a:cs typeface="Times New Roman" panose="02020603050405020304" pitchFamily="18" charset="0"/>
              </a:rPr>
              <a:t>, while </a:t>
            </a:r>
            <a:r>
              <a:rPr lang="en-US" sz="3100" b="1" dirty="0">
                <a:solidFill>
                  <a:srgbClr val="644C00"/>
                </a:solidFill>
                <a:latin typeface="Times New Roman" panose="02020603050405020304" pitchFamily="18" charset="0"/>
                <a:cs typeface="Times New Roman" panose="02020603050405020304" pitchFamily="18" charset="0"/>
              </a:rPr>
              <a:t>Lagos Central showed weaker profit efficiency and Port Harcourt Hub had the lowest scale</a:t>
            </a:r>
            <a:r>
              <a:rPr lang="en-US" sz="3100" dirty="0">
                <a:solidFill>
                  <a:srgbClr val="644C00"/>
                </a:solidFill>
                <a:latin typeface="Times New Roman" panose="02020603050405020304" pitchFamily="18" charset="0"/>
                <a:cs typeface="Times New Roman" panose="02020603050405020304" pitchFamily="18" charset="0"/>
              </a:rPr>
              <a:t>.</a:t>
            </a:r>
          </a:p>
          <a:p>
            <a:endParaRPr lang="en-US" sz="3100" dirty="0">
              <a:solidFill>
                <a:srgbClr val="644C00"/>
              </a:solidFill>
              <a:latin typeface="Times New Roman" panose="02020603050405020304" pitchFamily="18" charset="0"/>
              <a:cs typeface="Times New Roman" panose="02020603050405020304" pitchFamily="18" charset="0"/>
            </a:endParaRPr>
          </a:p>
          <a:p>
            <a:r>
              <a:rPr lang="en-US" sz="3100" dirty="0">
                <a:solidFill>
                  <a:srgbClr val="644C00"/>
                </a:solidFill>
                <a:latin typeface="Times New Roman" panose="02020603050405020304" pitchFamily="18" charset="0"/>
                <a:cs typeface="Times New Roman" panose="02020603050405020304" pitchFamily="18" charset="0"/>
              </a:rPr>
              <a:t>Across products, </a:t>
            </a:r>
            <a:r>
              <a:rPr lang="en-US" sz="3100" b="1" dirty="0">
                <a:solidFill>
                  <a:srgbClr val="644C00"/>
                </a:solidFill>
                <a:latin typeface="Times New Roman" panose="02020603050405020304" pitchFamily="18" charset="0"/>
                <a:cs typeface="Times New Roman" panose="02020603050405020304" pitchFamily="18" charset="0"/>
              </a:rPr>
              <a:t>cakes and pastries were the top revenue drivers</a:t>
            </a:r>
            <a:r>
              <a:rPr lang="en-US" sz="3100" dirty="0">
                <a:solidFill>
                  <a:srgbClr val="644C00"/>
                </a:solidFill>
                <a:latin typeface="Times New Roman" panose="02020603050405020304" pitchFamily="18" charset="0"/>
                <a:cs typeface="Times New Roman" panose="02020603050405020304" pitchFamily="18" charset="0"/>
              </a:rPr>
              <a:t>, but several products in chocolates and snacks recorded losses due to </a:t>
            </a:r>
            <a:r>
              <a:rPr lang="en-US" sz="3100" b="1" dirty="0">
                <a:solidFill>
                  <a:srgbClr val="644C00"/>
                </a:solidFill>
                <a:latin typeface="Times New Roman" panose="02020603050405020304" pitchFamily="18" charset="0"/>
                <a:cs typeface="Times New Roman" panose="02020603050405020304" pitchFamily="18" charset="0"/>
              </a:rPr>
              <a:t>high discounts and selling below cost price</a:t>
            </a:r>
            <a:r>
              <a:rPr lang="en-US" sz="3100" dirty="0">
                <a:solidFill>
                  <a:srgbClr val="644C00"/>
                </a:solidFill>
                <a:latin typeface="Times New Roman" panose="02020603050405020304" pitchFamily="18" charset="0"/>
                <a:cs typeface="Times New Roman" panose="02020603050405020304" pitchFamily="18" charset="0"/>
              </a:rPr>
              <a:t>.</a:t>
            </a:r>
          </a:p>
          <a:p>
            <a:endParaRPr lang="en-US" sz="3100" dirty="0">
              <a:solidFill>
                <a:srgbClr val="644C00"/>
              </a:solidFill>
              <a:latin typeface="Times New Roman" panose="02020603050405020304" pitchFamily="18" charset="0"/>
              <a:cs typeface="Times New Roman" panose="02020603050405020304" pitchFamily="18" charset="0"/>
            </a:endParaRPr>
          </a:p>
          <a:p>
            <a:r>
              <a:rPr lang="en-US" sz="3100" dirty="0">
                <a:solidFill>
                  <a:srgbClr val="644C00"/>
                </a:solidFill>
                <a:latin typeface="Times New Roman" panose="02020603050405020304" pitchFamily="18" charset="0"/>
                <a:cs typeface="Times New Roman" panose="02020603050405020304" pitchFamily="18" charset="0"/>
              </a:rPr>
              <a:t>Overall, the key issue is not demand but </a:t>
            </a:r>
            <a:r>
              <a:rPr lang="en-US" sz="3100" b="1" dirty="0">
                <a:solidFill>
                  <a:srgbClr val="644C00"/>
                </a:solidFill>
                <a:latin typeface="Times New Roman" panose="02020603050405020304" pitchFamily="18" charset="0"/>
                <a:cs typeface="Times New Roman" panose="02020603050405020304" pitchFamily="18" charset="0"/>
              </a:rPr>
              <a:t>profit leakage caused by excessive discounting and poor pricing control</a:t>
            </a:r>
            <a:r>
              <a:rPr lang="en-US" sz="3100" dirty="0">
                <a:solidFill>
                  <a:srgbClr val="644C00"/>
                </a:solidFill>
                <a:latin typeface="Times New Roman" panose="02020603050405020304" pitchFamily="18" charset="0"/>
                <a:cs typeface="Times New Roman" panose="02020603050405020304" pitchFamily="18" charset="0"/>
              </a:rPr>
              <a:t>, which reduced overall profitability despite strong sales.</a:t>
            </a:r>
          </a:p>
          <a:p>
            <a:endParaRPr lang="en-US" dirty="0"/>
          </a:p>
        </p:txBody>
      </p:sp>
    </p:spTree>
    <p:extLst>
      <p:ext uri="{BB962C8B-B14F-4D97-AF65-F5344CB8AC3E}">
        <p14:creationId xmlns:p14="http://schemas.microsoft.com/office/powerpoint/2010/main" val="2541449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09060CC-A1FF-6255-8527-E5842B75CAB2}"/>
              </a:ext>
            </a:extLst>
          </p:cNvPr>
          <p:cNvSpPr>
            <a:spLocks noGrp="1"/>
          </p:cNvSpPr>
          <p:nvPr>
            <p:ph type="title"/>
          </p:nvPr>
        </p:nvSpPr>
        <p:spPr>
          <a:xfrm>
            <a:off x="514350" y="1689418"/>
            <a:ext cx="10515600" cy="2852737"/>
          </a:xfrm>
        </p:spPr>
        <p:txBody>
          <a:bodyPr/>
          <a:lstStyle/>
          <a:p>
            <a:pPr algn="ctr"/>
            <a:r>
              <a:rPr lang="en-US" dirty="0">
                <a:solidFill>
                  <a:srgbClr val="644C00"/>
                </a:solidFill>
              </a:rPr>
              <a:t>Thank you</a:t>
            </a:r>
          </a:p>
        </p:txBody>
      </p:sp>
      <p:pic>
        <p:nvPicPr>
          <p:cNvPr id="9" name="Picture 8">
            <a:extLst>
              <a:ext uri="{FF2B5EF4-FFF2-40B4-BE49-F238E27FC236}">
                <a16:creationId xmlns:a16="http://schemas.microsoft.com/office/drawing/2014/main" id="{E3348E1F-469A-813C-AD3D-620A7A48D6FC}"/>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3352958" y="1689418"/>
            <a:ext cx="4635341" cy="2539682"/>
          </a:xfrm>
          <a:prstGeom prst="rect">
            <a:avLst/>
          </a:prstGeom>
        </p:spPr>
      </p:pic>
    </p:spTree>
    <p:extLst>
      <p:ext uri="{BB962C8B-B14F-4D97-AF65-F5344CB8AC3E}">
        <p14:creationId xmlns:p14="http://schemas.microsoft.com/office/powerpoint/2010/main" val="747837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2880</TotalTime>
  <Words>1757</Words>
  <Application>Microsoft Office PowerPoint</Application>
  <PresentationFormat>Widescreen</PresentationFormat>
  <Paragraphs>136</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Arial Black</vt:lpstr>
      <vt:lpstr>Calibri</vt:lpstr>
      <vt:lpstr>Calibri Light</vt:lpstr>
      <vt:lpstr>Segoe UI Black</vt:lpstr>
      <vt:lpstr>Times New Roman</vt:lpstr>
      <vt:lpstr>Office Theme</vt:lpstr>
      <vt:lpstr>Sales Decline and Performance Analysis Report of Elite Crust Bakery </vt:lpstr>
      <vt:lpstr>          </vt:lpstr>
      <vt:lpstr>PROBLEM STATEMENT  </vt:lpstr>
      <vt:lpstr>DATASET OVERVIEW</vt:lpstr>
      <vt:lpstr>DATASET OVERVIEW  </vt:lpstr>
      <vt:lpstr>DATA CLEANING &amp; PREPARATION  </vt:lpstr>
      <vt:lpstr>KEY METRICS - KPI MEASURED The following are key metrics to evaluate Elite Crust Bakery</vt:lpstr>
      <vt:lpstr>METHODOLOGY AND ANALYSIS  </vt:lpstr>
      <vt:lpstr> Elite Crust Bakery DASHBOARD   </vt:lpstr>
      <vt:lpstr>KPI ANALYSIS  </vt:lpstr>
      <vt:lpstr>KPI ANALYSIS  </vt:lpstr>
      <vt:lpstr>Products PERFORMANCE ANALYSES</vt:lpstr>
      <vt:lpstr>Categories Analysis</vt:lpstr>
      <vt:lpstr>Store Performance Analysis</vt:lpstr>
      <vt:lpstr>Customers Behavior And Inventory Analysis</vt:lpstr>
      <vt:lpstr>Product Recommendations </vt:lpstr>
      <vt:lpstr>Customer Recommendations </vt:lpstr>
      <vt:lpstr>Store Recommendations </vt:lpstr>
      <vt:lpstr>Category Recommendations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richardkanu081@gmail.com</dc:creator>
  <cp:lastModifiedBy>richardkanu081@gmail.com</cp:lastModifiedBy>
  <cp:revision>8</cp:revision>
  <dcterms:created xsi:type="dcterms:W3CDTF">2026-04-21T21:12:28Z</dcterms:created>
  <dcterms:modified xsi:type="dcterms:W3CDTF">2026-04-27T07:46:10Z</dcterms:modified>
</cp:coreProperties>
</file>